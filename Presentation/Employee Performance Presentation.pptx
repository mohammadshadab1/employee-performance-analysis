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364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685800"/>
            <a:ext cx="1463040" cy="64008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058400" cy="270843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HR &amp; PEOPLE ANALYTICS  ·  DATA STORYTELLING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424160" cy="152759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7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Employee Performance</a:t>
            </a:r>
          </a:p>
          <a:p>
            <a:pPr algn="l">
              <a:spcAft>
                <a:spcPts val="200"/>
              </a:spcAft>
            </a:pPr>
            <a:r>
              <a:rPr sz="47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&amp; Productivity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520440"/>
            <a:ext cx="10058400" cy="61965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5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What 100,000 employee records reveal about pay, performance, attrition</a:t>
            </a:r>
          </a:p>
          <a:p>
            <a:pPr algn="l">
              <a:spcAft>
                <a:spcPts val="200"/>
              </a:spcAft>
            </a:pPr>
            <a:r>
              <a:rPr sz="175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and the HR myths the data dismantles.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709160"/>
            <a:ext cx="82296" cy="685800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681728"/>
            <a:ext cx="9144000" cy="5786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Presented by  </a:t>
            </a:r>
            <a:r>
              <a:rPr sz="19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MOHAMMAD SHADAB</a:t>
            </a:r>
          </a:p>
          <a:p>
            <a:pPr algn="l">
              <a:spcAft>
                <a:spcPts val="300"/>
              </a:spcAft>
            </a:pPr>
            <a:r>
              <a:rPr sz="125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Data Analyst   ·   Python · SQL · Power BI · 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806440"/>
            <a:ext cx="2487168" cy="475488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5897880"/>
            <a:ext cx="2487168" cy="22467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100,000 Employees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5806440"/>
            <a:ext cx="2487168" cy="475488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93008" y="5897880"/>
            <a:ext cx="2487168" cy="22467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9 Departments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5806440"/>
            <a:ext cx="2487168" cy="475488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63056" y="5897880"/>
            <a:ext cx="2487168" cy="22467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2014 – 2024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3104" y="5806440"/>
            <a:ext cx="2487168" cy="475488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33104" y="5897880"/>
            <a:ext cx="2487168" cy="22467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21 Charts · 4 Dashboard Tabs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7315200" cy="19389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 dirty="0"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92240"/>
            <a:ext cx="960120" cy="20159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7899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8ED4F8"/>
                </a:solidFill>
                <a:latin typeface="Calibr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15568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What We'll Cover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3035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618488"/>
            <a:ext cx="1371600" cy="10972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DCE6F0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783080"/>
            <a:ext cx="338328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A2F5C"/>
                </a:solidFill>
                <a:latin typeface="Calibri"/>
              </a:rPr>
              <a:t>Workforce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377440"/>
            <a:ext cx="3337560" cy="9601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7285"/>
                </a:solidFill>
                <a:latin typeface="Calibri"/>
              </a:rPr>
              <a:t>How the company grew: headcount balance, the 2014–2024 hiring engine, tenure mix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53035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01968" y="1618488"/>
            <a:ext cx="1371600" cy="10972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DCE6F0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783080"/>
            <a:ext cx="338328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A2F5C"/>
                </a:solidFill>
                <a:latin typeface="Calibri"/>
              </a:rPr>
              <a:t>Compensation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377440"/>
            <a:ext cx="3337560" cy="9601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7285"/>
                </a:solidFill>
                <a:latin typeface="Calibri"/>
              </a:rPr>
              <a:t>Job title vs education vs gender vs experience — what actually sets pay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94760"/>
            <a:ext cx="53035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3995928"/>
            <a:ext cx="1371600" cy="10972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DCE6F0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160520"/>
            <a:ext cx="338328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A2F5C"/>
                </a:solidFill>
                <a:latin typeface="Calibri"/>
              </a:rPr>
              <a:t>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754880"/>
            <a:ext cx="3337560" cy="9601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7285"/>
                </a:solidFill>
                <a:latin typeface="Calibri"/>
              </a:rPr>
              <a:t>Ratings, training and promotions — and the noise hiding inside them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794760"/>
            <a:ext cx="53035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01968" y="3995928"/>
            <a:ext cx="1371600" cy="10972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DCE6F0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4160520"/>
            <a:ext cx="338328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A2F5C"/>
                </a:solidFill>
                <a:latin typeface="Calibri"/>
              </a:rPr>
              <a:t>Attrition &amp; Satisfaction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754880"/>
            <a:ext cx="3337560" cy="9601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7285"/>
                </a:solidFill>
                <a:latin typeface="Calibri"/>
              </a:rPr>
              <a:t>Why 10,010 people left — and why satisfaction never warned 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7285"/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492240"/>
            <a:ext cx="9601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>
                <a:solidFill>
                  <a:srgbClr val="E87B46"/>
                </a:solidFill>
                <a:latin typeface="Calibri"/>
              </a:rPr>
              <a:t>02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0C00ECF-775E-D510-B92A-D36A8958ED58}"/>
              </a:ext>
            </a:extLst>
          </p:cNvPr>
          <p:cNvSpPr/>
          <p:nvPr/>
        </p:nvSpPr>
        <p:spPr>
          <a:xfrm>
            <a:off x="685801" y="1429497"/>
            <a:ext cx="104275" cy="2033046"/>
          </a:xfrm>
          <a:custGeom>
            <a:avLst/>
            <a:gdLst>
              <a:gd name="csX0" fmla="*/ 104275 w 104275"/>
              <a:gd name="csY0" fmla="*/ 0 h 2033046"/>
              <a:gd name="csX1" fmla="*/ 104275 w 104275"/>
              <a:gd name="csY1" fmla="*/ 2033046 h 2033046"/>
              <a:gd name="csX2" fmla="*/ 100525 w 104275"/>
              <a:gd name="csY2" fmla="*/ 2032289 h 2033046"/>
              <a:gd name="csX3" fmla="*/ 0 w 104275"/>
              <a:gd name="csY3" fmla="*/ 1880631 h 2033046"/>
              <a:gd name="csX4" fmla="*/ 0 w 104275"/>
              <a:gd name="csY4" fmla="*/ 152415 h 2033046"/>
              <a:gd name="csX5" fmla="*/ 100525 w 104275"/>
              <a:gd name="csY5" fmla="*/ 758 h 20330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4275" h="2033046">
                <a:moveTo>
                  <a:pt x="104275" y="0"/>
                </a:moveTo>
                <a:lnTo>
                  <a:pt x="104275" y="2033046"/>
                </a:lnTo>
                <a:lnTo>
                  <a:pt x="100525" y="2032289"/>
                </a:lnTo>
                <a:cubicBezTo>
                  <a:pt x="41451" y="2007302"/>
                  <a:pt x="0" y="1948808"/>
                  <a:pt x="0" y="1880631"/>
                </a:cubicBezTo>
                <a:lnTo>
                  <a:pt x="0" y="152415"/>
                </a:lnTo>
                <a:cubicBezTo>
                  <a:pt x="0" y="84239"/>
                  <a:pt x="41451" y="25744"/>
                  <a:pt x="100525" y="758"/>
                </a:cubicBezTo>
                <a:close/>
              </a:path>
            </a:pathLst>
          </a:cu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5B9A030-D586-4177-4D28-9DBB164C16FE}"/>
              </a:ext>
            </a:extLst>
          </p:cNvPr>
          <p:cNvSpPr/>
          <p:nvPr/>
        </p:nvSpPr>
        <p:spPr>
          <a:xfrm>
            <a:off x="6299460" y="1428206"/>
            <a:ext cx="104275" cy="2033046"/>
          </a:xfrm>
          <a:custGeom>
            <a:avLst/>
            <a:gdLst>
              <a:gd name="csX0" fmla="*/ 104275 w 104275"/>
              <a:gd name="csY0" fmla="*/ 0 h 2033046"/>
              <a:gd name="csX1" fmla="*/ 104275 w 104275"/>
              <a:gd name="csY1" fmla="*/ 2033046 h 2033046"/>
              <a:gd name="csX2" fmla="*/ 100525 w 104275"/>
              <a:gd name="csY2" fmla="*/ 2032289 h 2033046"/>
              <a:gd name="csX3" fmla="*/ 0 w 104275"/>
              <a:gd name="csY3" fmla="*/ 1880631 h 2033046"/>
              <a:gd name="csX4" fmla="*/ 0 w 104275"/>
              <a:gd name="csY4" fmla="*/ 152415 h 2033046"/>
              <a:gd name="csX5" fmla="*/ 100525 w 104275"/>
              <a:gd name="csY5" fmla="*/ 758 h 20330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4275" h="2033046">
                <a:moveTo>
                  <a:pt x="104275" y="0"/>
                </a:moveTo>
                <a:lnTo>
                  <a:pt x="104275" y="2033046"/>
                </a:lnTo>
                <a:lnTo>
                  <a:pt x="100525" y="2032289"/>
                </a:lnTo>
                <a:cubicBezTo>
                  <a:pt x="41451" y="2007302"/>
                  <a:pt x="0" y="1948808"/>
                  <a:pt x="0" y="1880631"/>
                </a:cubicBezTo>
                <a:lnTo>
                  <a:pt x="0" y="152415"/>
                </a:lnTo>
                <a:cubicBezTo>
                  <a:pt x="0" y="84239"/>
                  <a:pt x="41451" y="25744"/>
                  <a:pt x="100525" y="758"/>
                </a:cubicBezTo>
                <a:close/>
              </a:path>
            </a:pathLst>
          </a:cu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18C9B8D-462D-EF29-796A-EF144249CF8D}"/>
              </a:ext>
            </a:extLst>
          </p:cNvPr>
          <p:cNvSpPr/>
          <p:nvPr/>
        </p:nvSpPr>
        <p:spPr>
          <a:xfrm>
            <a:off x="670471" y="3819768"/>
            <a:ext cx="104275" cy="2033046"/>
          </a:xfrm>
          <a:custGeom>
            <a:avLst/>
            <a:gdLst>
              <a:gd name="csX0" fmla="*/ 104275 w 104275"/>
              <a:gd name="csY0" fmla="*/ 0 h 2033046"/>
              <a:gd name="csX1" fmla="*/ 104275 w 104275"/>
              <a:gd name="csY1" fmla="*/ 2033046 h 2033046"/>
              <a:gd name="csX2" fmla="*/ 100525 w 104275"/>
              <a:gd name="csY2" fmla="*/ 2032289 h 2033046"/>
              <a:gd name="csX3" fmla="*/ 0 w 104275"/>
              <a:gd name="csY3" fmla="*/ 1880631 h 2033046"/>
              <a:gd name="csX4" fmla="*/ 0 w 104275"/>
              <a:gd name="csY4" fmla="*/ 152415 h 2033046"/>
              <a:gd name="csX5" fmla="*/ 100525 w 104275"/>
              <a:gd name="csY5" fmla="*/ 758 h 20330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4275" h="2033046">
                <a:moveTo>
                  <a:pt x="104275" y="0"/>
                </a:moveTo>
                <a:lnTo>
                  <a:pt x="104275" y="2033046"/>
                </a:lnTo>
                <a:lnTo>
                  <a:pt x="100525" y="2032289"/>
                </a:lnTo>
                <a:cubicBezTo>
                  <a:pt x="41451" y="2007302"/>
                  <a:pt x="0" y="1948808"/>
                  <a:pt x="0" y="1880631"/>
                </a:cubicBezTo>
                <a:lnTo>
                  <a:pt x="0" y="152415"/>
                </a:lnTo>
                <a:cubicBezTo>
                  <a:pt x="0" y="84239"/>
                  <a:pt x="41451" y="25744"/>
                  <a:pt x="100525" y="758"/>
                </a:cubicBezTo>
                <a:close/>
              </a:path>
            </a:pathLst>
          </a:cu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552AB37-939C-F68D-E795-EC7FD7B29961}"/>
              </a:ext>
            </a:extLst>
          </p:cNvPr>
          <p:cNvSpPr/>
          <p:nvPr/>
        </p:nvSpPr>
        <p:spPr>
          <a:xfrm>
            <a:off x="6316762" y="3814325"/>
            <a:ext cx="104275" cy="2033046"/>
          </a:xfrm>
          <a:custGeom>
            <a:avLst/>
            <a:gdLst>
              <a:gd name="csX0" fmla="*/ 104275 w 104275"/>
              <a:gd name="csY0" fmla="*/ 0 h 2033046"/>
              <a:gd name="csX1" fmla="*/ 104275 w 104275"/>
              <a:gd name="csY1" fmla="*/ 2033046 h 2033046"/>
              <a:gd name="csX2" fmla="*/ 100525 w 104275"/>
              <a:gd name="csY2" fmla="*/ 2032289 h 2033046"/>
              <a:gd name="csX3" fmla="*/ 0 w 104275"/>
              <a:gd name="csY3" fmla="*/ 1880631 h 2033046"/>
              <a:gd name="csX4" fmla="*/ 0 w 104275"/>
              <a:gd name="csY4" fmla="*/ 152415 h 2033046"/>
              <a:gd name="csX5" fmla="*/ 100525 w 104275"/>
              <a:gd name="csY5" fmla="*/ 758 h 20330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4275" h="2033046">
                <a:moveTo>
                  <a:pt x="104275" y="0"/>
                </a:moveTo>
                <a:lnTo>
                  <a:pt x="104275" y="2033046"/>
                </a:lnTo>
                <a:lnTo>
                  <a:pt x="100525" y="2032289"/>
                </a:lnTo>
                <a:cubicBezTo>
                  <a:pt x="41451" y="2007302"/>
                  <a:pt x="0" y="1948808"/>
                  <a:pt x="0" y="1880631"/>
                </a:cubicBezTo>
                <a:lnTo>
                  <a:pt x="0" y="152415"/>
                </a:lnTo>
                <a:cubicBezTo>
                  <a:pt x="0" y="84239"/>
                  <a:pt x="41451" y="25744"/>
                  <a:pt x="100525" y="758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  <p:bldP spid="35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 37">
            <a:extLst>
              <a:ext uri="{FF2B5EF4-FFF2-40B4-BE49-F238E27FC236}">
                <a16:creationId xmlns:a16="http://schemas.microsoft.com/office/drawing/2014/main" id="{919853AB-90B8-6409-0559-18964E3BE29D}"/>
              </a:ext>
            </a:extLst>
          </p:cNvPr>
          <p:cNvSpPr/>
          <p:nvPr/>
        </p:nvSpPr>
        <p:spPr>
          <a:xfrm>
            <a:off x="659741" y="5744464"/>
            <a:ext cx="10927080" cy="621792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 w="12700">
            <a:solidFill>
              <a:srgbClr val="00B0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37">
            <a:extLst>
              <a:ext uri="{FF2B5EF4-FFF2-40B4-BE49-F238E27FC236}">
                <a16:creationId xmlns:a16="http://schemas.microsoft.com/office/drawing/2014/main" id="{26646390-386D-FBEB-92CE-95BB54E13111}"/>
              </a:ext>
            </a:extLst>
          </p:cNvPr>
          <p:cNvSpPr/>
          <p:nvPr/>
        </p:nvSpPr>
        <p:spPr>
          <a:xfrm>
            <a:off x="558794" y="5706578"/>
            <a:ext cx="10927080" cy="621792"/>
          </a:xfrm>
          <a:prstGeom prst="roundRect">
            <a:avLst>
              <a:gd name="adj" fmla="val 8000"/>
            </a:avLst>
          </a:prstGeom>
          <a:solidFill>
            <a:srgbClr val="4A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233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A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7899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8ED4F8"/>
                </a:solidFill>
                <a:latin typeface="Calibri"/>
              </a:rPr>
              <a:t>THE 30-SECOND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15568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If You Remember Only Three Things…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52044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45920"/>
            <a:ext cx="301752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E87B46"/>
                </a:solidFill>
                <a:latin typeface="Calibri"/>
              </a:rPr>
              <a:t>FINDING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29968"/>
            <a:ext cx="3063240" cy="9601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50" b="1" i="0">
                <a:solidFill>
                  <a:srgbClr val="0A2F5C"/>
                </a:solidFill>
                <a:latin typeface="Calibri"/>
              </a:rPr>
              <a:t>Job title is the ONLY real pay lever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999232"/>
            <a:ext cx="3108960" cy="10058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80" b="0" i="0">
                <a:solidFill>
                  <a:srgbClr val="5F7285"/>
                </a:solidFill>
                <a:latin typeface="Calibri"/>
              </a:rPr>
              <a:t>Engineers &amp; Managers earn ~$7.8K vs Technicians ~$4.5K — a 72% gap. Education moves pay 0.52%, gender ~0.2%.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52044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1645920"/>
            <a:ext cx="301752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F77B4"/>
                </a:solidFill>
                <a:latin typeface="Calibri"/>
              </a:rPr>
              <a:t>FINDING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029968"/>
            <a:ext cx="3063240" cy="9601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50" b="1" i="0">
                <a:solidFill>
                  <a:srgbClr val="0A2F5C"/>
                </a:solidFill>
                <a:latin typeface="Calibri"/>
              </a:rPr>
              <a:t>Attrition is a flat 10% — everywhere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999232"/>
            <a:ext cx="3108960" cy="10058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80" b="0" i="0">
                <a:solidFill>
                  <a:srgbClr val="5F7285"/>
                </a:solidFill>
                <a:latin typeface="Calibri"/>
              </a:rPr>
              <a:t>Department, education, remote work and even satisfaction barely move it. Stayers rate 3.00; leavers 2.99.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067" y="1371600"/>
            <a:ext cx="352044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85632" y="1645920"/>
            <a:ext cx="301752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9B59B6"/>
                </a:solidFill>
                <a:latin typeface="Calibri"/>
              </a:rPr>
              <a:t>FINDING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029968"/>
            <a:ext cx="3063240" cy="9601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50" b="1" i="0">
                <a:solidFill>
                  <a:srgbClr val="0A2F5C"/>
                </a:solidFill>
                <a:latin typeface="Calibri"/>
              </a:rPr>
              <a:t>Training &amp; tenure don't drive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999232"/>
            <a:ext cx="3108960" cy="10058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80" b="0" i="0">
                <a:solidFill>
                  <a:srgbClr val="5F7285"/>
                </a:solidFill>
                <a:latin typeface="Calibri"/>
              </a:rPr>
              <a:t>Ratings are a uniform ~20K per score; training sits at 49.3–49.7 hrs at every rating. Correlations ≈ 0.00.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43400"/>
            <a:ext cx="26700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04671" y="4544568"/>
            <a:ext cx="2395728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500" b="1" i="0">
                <a:solidFill>
                  <a:srgbClr val="0A2F5C"/>
                </a:solidFill>
                <a:latin typeface="Calibri"/>
              </a:rPr>
              <a:t>$6,403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29784"/>
            <a:ext cx="2432304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1" i="0">
                <a:solidFill>
                  <a:srgbClr val="5F7285"/>
                </a:solidFill>
                <a:latin typeface="Calibri"/>
              </a:rPr>
              <a:t>AVG MONTHLY SALARY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93008" y="4343400"/>
            <a:ext cx="26700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0" y="4544568"/>
            <a:ext cx="2395728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500" b="1" i="0">
                <a:solidFill>
                  <a:srgbClr val="0A2F5C"/>
                </a:solidFill>
                <a:latin typeface="Calibri"/>
              </a:rPr>
              <a:t>10.01%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0168" y="5129784"/>
            <a:ext cx="2432304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1" i="0">
                <a:solidFill>
                  <a:srgbClr val="5F7285"/>
                </a:solidFill>
                <a:latin typeface="Calibri"/>
              </a:rPr>
              <a:t>OVERALL ATTRITION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45936" y="4343400"/>
            <a:ext cx="26700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10528" y="4544568"/>
            <a:ext cx="2395728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500" b="1" i="0">
                <a:solidFill>
                  <a:srgbClr val="0A2F5C"/>
                </a:solidFill>
                <a:latin typeface="Calibri"/>
              </a:rPr>
              <a:t>r = 0.51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3096" y="5129784"/>
            <a:ext cx="2432304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1" i="0">
                <a:solidFill>
                  <a:srgbClr val="5F7285"/>
                </a:solidFill>
                <a:latin typeface="Calibri"/>
              </a:rPr>
              <a:t>PERFORMANCE ↔ SALARY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98863" y="4343400"/>
            <a:ext cx="26700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63455" y="4544568"/>
            <a:ext cx="2395728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500" b="1" i="0">
                <a:solidFill>
                  <a:srgbClr val="0A2F5C"/>
                </a:solidFill>
                <a:latin typeface="Calibri"/>
              </a:rPr>
              <a:t>3.00 /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36024" y="5129784"/>
            <a:ext cx="2432304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1" i="0">
                <a:solidFill>
                  <a:srgbClr val="5F7285"/>
                </a:solidFill>
                <a:latin typeface="Calibri"/>
              </a:rPr>
              <a:t>AVG PERFORMANCE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705856"/>
            <a:ext cx="109270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6112" y="5852160"/>
            <a:ext cx="1046988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4AA3FF"/>
                </a:solidFill>
                <a:latin typeface="Calibri"/>
              </a:rPr>
              <a:t>THE TWIST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6071616"/>
            <a:ext cx="10424159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60" b="0" i="0">
                <a:solidFill>
                  <a:srgbClr val="1C2B39"/>
                </a:solidFill>
                <a:latin typeface="Calibri"/>
              </a:rPr>
              <a:t>Almost every relationship in 100,000 rows is statistically zero — HR levers are disconnected from outcomes. Strategy should follow role architecture, not folklore.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7285"/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6492240"/>
            <a:ext cx="9601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 dirty="0">
                <a:solidFill>
                  <a:srgbClr val="E87B46"/>
                </a:solidFill>
                <a:latin typeface="Calibri"/>
              </a:rPr>
              <a:t>03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BA5AC241-975C-5A78-1AB2-29FEBFCC5DF7}"/>
              </a:ext>
            </a:extLst>
          </p:cNvPr>
          <p:cNvSpPr/>
          <p:nvPr/>
        </p:nvSpPr>
        <p:spPr>
          <a:xfrm>
            <a:off x="654980" y="1374134"/>
            <a:ext cx="3487633" cy="104486"/>
          </a:xfrm>
          <a:custGeom>
            <a:avLst/>
            <a:gdLst>
              <a:gd name="csX0" fmla="*/ 199788 w 3487633"/>
              <a:gd name="csY0" fmla="*/ 0 h 136500"/>
              <a:gd name="csX1" fmla="*/ 3288632 w 3487633"/>
              <a:gd name="csY1" fmla="*/ 0 h 136500"/>
              <a:gd name="csX2" fmla="*/ 3487472 w 3487633"/>
              <a:gd name="csY2" fmla="*/ 131800 h 136500"/>
              <a:gd name="csX3" fmla="*/ 3487633 w 3487633"/>
              <a:gd name="csY3" fmla="*/ 132601 h 136500"/>
              <a:gd name="csX4" fmla="*/ 38680 w 3487633"/>
              <a:gd name="csY4" fmla="*/ 132601 h 136500"/>
              <a:gd name="csX5" fmla="*/ 0 w 3487633"/>
              <a:gd name="csY5" fmla="*/ 136500 h 136500"/>
              <a:gd name="csX6" fmla="*/ 949 w 3487633"/>
              <a:gd name="csY6" fmla="*/ 131800 h 136500"/>
              <a:gd name="csX7" fmla="*/ 199788 w 3487633"/>
              <a:gd name="csY7" fmla="*/ 0 h 136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487633" h="136500">
                <a:moveTo>
                  <a:pt x="199788" y="0"/>
                </a:moveTo>
                <a:lnTo>
                  <a:pt x="3288632" y="0"/>
                </a:lnTo>
                <a:cubicBezTo>
                  <a:pt x="3378019" y="0"/>
                  <a:pt x="3454712" y="54347"/>
                  <a:pt x="3487472" y="131800"/>
                </a:cubicBezTo>
                <a:lnTo>
                  <a:pt x="3487633" y="132601"/>
                </a:lnTo>
                <a:lnTo>
                  <a:pt x="38680" y="132601"/>
                </a:lnTo>
                <a:lnTo>
                  <a:pt x="0" y="136500"/>
                </a:lnTo>
                <a:lnTo>
                  <a:pt x="949" y="131800"/>
                </a:lnTo>
                <a:cubicBezTo>
                  <a:pt x="33709" y="54347"/>
                  <a:pt x="110402" y="0"/>
                  <a:pt x="199788" y="0"/>
                </a:cubicBezTo>
                <a:close/>
              </a:path>
            </a:pathLst>
          </a:cu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DC3EBB2-66F5-7D4A-BC9F-2C9B7D98D39A}"/>
              </a:ext>
            </a:extLst>
          </p:cNvPr>
          <p:cNvSpPr/>
          <p:nvPr/>
        </p:nvSpPr>
        <p:spPr>
          <a:xfrm>
            <a:off x="4442776" y="1382938"/>
            <a:ext cx="3487633" cy="104486"/>
          </a:xfrm>
          <a:custGeom>
            <a:avLst/>
            <a:gdLst>
              <a:gd name="csX0" fmla="*/ 199788 w 3487633"/>
              <a:gd name="csY0" fmla="*/ 0 h 136500"/>
              <a:gd name="csX1" fmla="*/ 3288632 w 3487633"/>
              <a:gd name="csY1" fmla="*/ 0 h 136500"/>
              <a:gd name="csX2" fmla="*/ 3487472 w 3487633"/>
              <a:gd name="csY2" fmla="*/ 131800 h 136500"/>
              <a:gd name="csX3" fmla="*/ 3487633 w 3487633"/>
              <a:gd name="csY3" fmla="*/ 132601 h 136500"/>
              <a:gd name="csX4" fmla="*/ 38680 w 3487633"/>
              <a:gd name="csY4" fmla="*/ 132601 h 136500"/>
              <a:gd name="csX5" fmla="*/ 0 w 3487633"/>
              <a:gd name="csY5" fmla="*/ 136500 h 136500"/>
              <a:gd name="csX6" fmla="*/ 949 w 3487633"/>
              <a:gd name="csY6" fmla="*/ 131800 h 136500"/>
              <a:gd name="csX7" fmla="*/ 199788 w 3487633"/>
              <a:gd name="csY7" fmla="*/ 0 h 136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487633" h="136500">
                <a:moveTo>
                  <a:pt x="199788" y="0"/>
                </a:moveTo>
                <a:lnTo>
                  <a:pt x="3288632" y="0"/>
                </a:lnTo>
                <a:cubicBezTo>
                  <a:pt x="3378019" y="0"/>
                  <a:pt x="3454712" y="54347"/>
                  <a:pt x="3487472" y="131800"/>
                </a:cubicBezTo>
                <a:lnTo>
                  <a:pt x="3487633" y="132601"/>
                </a:lnTo>
                <a:lnTo>
                  <a:pt x="38680" y="132601"/>
                </a:lnTo>
                <a:lnTo>
                  <a:pt x="0" y="136500"/>
                </a:lnTo>
                <a:lnTo>
                  <a:pt x="949" y="131800"/>
                </a:lnTo>
                <a:cubicBezTo>
                  <a:pt x="33709" y="54347"/>
                  <a:pt x="110402" y="0"/>
                  <a:pt x="199788" y="0"/>
                </a:cubicBezTo>
                <a:close/>
              </a:path>
            </a:pathLst>
          </a:cu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47661CAE-DD83-418D-9256-8A2B7DFF01E2}"/>
              </a:ext>
            </a:extLst>
          </p:cNvPr>
          <p:cNvSpPr/>
          <p:nvPr/>
        </p:nvSpPr>
        <p:spPr>
          <a:xfrm>
            <a:off x="8253960" y="1382506"/>
            <a:ext cx="3487633" cy="104486"/>
          </a:xfrm>
          <a:custGeom>
            <a:avLst/>
            <a:gdLst>
              <a:gd name="csX0" fmla="*/ 199788 w 3487633"/>
              <a:gd name="csY0" fmla="*/ 0 h 136500"/>
              <a:gd name="csX1" fmla="*/ 3288632 w 3487633"/>
              <a:gd name="csY1" fmla="*/ 0 h 136500"/>
              <a:gd name="csX2" fmla="*/ 3487472 w 3487633"/>
              <a:gd name="csY2" fmla="*/ 131800 h 136500"/>
              <a:gd name="csX3" fmla="*/ 3487633 w 3487633"/>
              <a:gd name="csY3" fmla="*/ 132601 h 136500"/>
              <a:gd name="csX4" fmla="*/ 38680 w 3487633"/>
              <a:gd name="csY4" fmla="*/ 132601 h 136500"/>
              <a:gd name="csX5" fmla="*/ 0 w 3487633"/>
              <a:gd name="csY5" fmla="*/ 136500 h 136500"/>
              <a:gd name="csX6" fmla="*/ 949 w 3487633"/>
              <a:gd name="csY6" fmla="*/ 131800 h 136500"/>
              <a:gd name="csX7" fmla="*/ 199788 w 3487633"/>
              <a:gd name="csY7" fmla="*/ 0 h 136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487633" h="136500">
                <a:moveTo>
                  <a:pt x="199788" y="0"/>
                </a:moveTo>
                <a:lnTo>
                  <a:pt x="3288632" y="0"/>
                </a:lnTo>
                <a:cubicBezTo>
                  <a:pt x="3378019" y="0"/>
                  <a:pt x="3454712" y="54347"/>
                  <a:pt x="3487472" y="131800"/>
                </a:cubicBezTo>
                <a:lnTo>
                  <a:pt x="3487633" y="132601"/>
                </a:lnTo>
                <a:lnTo>
                  <a:pt x="38680" y="132601"/>
                </a:lnTo>
                <a:lnTo>
                  <a:pt x="0" y="136500"/>
                </a:lnTo>
                <a:lnTo>
                  <a:pt x="949" y="131800"/>
                </a:lnTo>
                <a:cubicBezTo>
                  <a:pt x="33709" y="54347"/>
                  <a:pt x="110402" y="0"/>
                  <a:pt x="199788" y="0"/>
                </a:cubicBezTo>
                <a:close/>
              </a:path>
            </a:pathLst>
          </a:cu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16F134D2-7BF1-08A4-704E-A4F13A146021}"/>
              </a:ext>
            </a:extLst>
          </p:cNvPr>
          <p:cNvSpPr/>
          <p:nvPr/>
        </p:nvSpPr>
        <p:spPr>
          <a:xfrm>
            <a:off x="659741" y="4334439"/>
            <a:ext cx="2629202" cy="75463"/>
          </a:xfrm>
          <a:custGeom>
            <a:avLst/>
            <a:gdLst>
              <a:gd name="csX0" fmla="*/ 74843 w 2629202"/>
              <a:gd name="csY0" fmla="*/ 0 h 41860"/>
              <a:gd name="csX1" fmla="*/ 2551769 w 2629202"/>
              <a:gd name="csY1" fmla="*/ 0 h 41860"/>
              <a:gd name="csX2" fmla="*/ 2620048 w 2629202"/>
              <a:gd name="csY2" fmla="*/ 28282 h 41860"/>
              <a:gd name="csX3" fmla="*/ 2629202 w 2629202"/>
              <a:gd name="csY3" fmla="*/ 41860 h 41860"/>
              <a:gd name="csX4" fmla="*/ 2610179 w 2629202"/>
              <a:gd name="csY4" fmla="*/ 38019 h 41860"/>
              <a:gd name="csX5" fmla="*/ 0 w 2629202"/>
              <a:gd name="csY5" fmla="*/ 38019 h 41860"/>
              <a:gd name="csX6" fmla="*/ 6564 w 2629202"/>
              <a:gd name="csY6" fmla="*/ 28282 h 41860"/>
              <a:gd name="csX7" fmla="*/ 74843 w 2629202"/>
              <a:gd name="csY7" fmla="*/ 0 h 418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629202" h="41860">
                <a:moveTo>
                  <a:pt x="74843" y="0"/>
                </a:moveTo>
                <a:lnTo>
                  <a:pt x="2551769" y="0"/>
                </a:lnTo>
                <a:cubicBezTo>
                  <a:pt x="2578434" y="0"/>
                  <a:pt x="2602574" y="10808"/>
                  <a:pt x="2620048" y="28282"/>
                </a:cubicBezTo>
                <a:lnTo>
                  <a:pt x="2629202" y="41860"/>
                </a:lnTo>
                <a:lnTo>
                  <a:pt x="2610179" y="38019"/>
                </a:lnTo>
                <a:lnTo>
                  <a:pt x="0" y="38019"/>
                </a:lnTo>
                <a:lnTo>
                  <a:pt x="6564" y="28282"/>
                </a:lnTo>
                <a:cubicBezTo>
                  <a:pt x="24038" y="10808"/>
                  <a:pt x="48179" y="0"/>
                  <a:pt x="74843" y="0"/>
                </a:cubicBezTo>
                <a:close/>
              </a:path>
            </a:pathLst>
          </a:cu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9B960BAE-490E-BF08-F322-4EFDC6564587}"/>
              </a:ext>
            </a:extLst>
          </p:cNvPr>
          <p:cNvSpPr/>
          <p:nvPr/>
        </p:nvSpPr>
        <p:spPr>
          <a:xfrm>
            <a:off x="3508080" y="4334582"/>
            <a:ext cx="2629202" cy="75463"/>
          </a:xfrm>
          <a:custGeom>
            <a:avLst/>
            <a:gdLst>
              <a:gd name="csX0" fmla="*/ 74843 w 2629202"/>
              <a:gd name="csY0" fmla="*/ 0 h 41860"/>
              <a:gd name="csX1" fmla="*/ 2551769 w 2629202"/>
              <a:gd name="csY1" fmla="*/ 0 h 41860"/>
              <a:gd name="csX2" fmla="*/ 2620048 w 2629202"/>
              <a:gd name="csY2" fmla="*/ 28282 h 41860"/>
              <a:gd name="csX3" fmla="*/ 2629202 w 2629202"/>
              <a:gd name="csY3" fmla="*/ 41860 h 41860"/>
              <a:gd name="csX4" fmla="*/ 2610179 w 2629202"/>
              <a:gd name="csY4" fmla="*/ 38019 h 41860"/>
              <a:gd name="csX5" fmla="*/ 0 w 2629202"/>
              <a:gd name="csY5" fmla="*/ 38019 h 41860"/>
              <a:gd name="csX6" fmla="*/ 6564 w 2629202"/>
              <a:gd name="csY6" fmla="*/ 28282 h 41860"/>
              <a:gd name="csX7" fmla="*/ 74843 w 2629202"/>
              <a:gd name="csY7" fmla="*/ 0 h 418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629202" h="41860">
                <a:moveTo>
                  <a:pt x="74843" y="0"/>
                </a:moveTo>
                <a:lnTo>
                  <a:pt x="2551769" y="0"/>
                </a:lnTo>
                <a:cubicBezTo>
                  <a:pt x="2578434" y="0"/>
                  <a:pt x="2602574" y="10808"/>
                  <a:pt x="2620048" y="28282"/>
                </a:cubicBezTo>
                <a:lnTo>
                  <a:pt x="2629202" y="41860"/>
                </a:lnTo>
                <a:lnTo>
                  <a:pt x="2610179" y="38019"/>
                </a:lnTo>
                <a:lnTo>
                  <a:pt x="0" y="38019"/>
                </a:lnTo>
                <a:lnTo>
                  <a:pt x="6564" y="28282"/>
                </a:lnTo>
                <a:cubicBezTo>
                  <a:pt x="24038" y="10808"/>
                  <a:pt x="48179" y="0"/>
                  <a:pt x="74843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08244B76-A336-24CB-34E5-0B75149F5B4D}"/>
              </a:ext>
            </a:extLst>
          </p:cNvPr>
          <p:cNvSpPr/>
          <p:nvPr/>
        </p:nvSpPr>
        <p:spPr>
          <a:xfrm>
            <a:off x="6364885" y="4334725"/>
            <a:ext cx="2629202" cy="75463"/>
          </a:xfrm>
          <a:custGeom>
            <a:avLst/>
            <a:gdLst>
              <a:gd name="csX0" fmla="*/ 74843 w 2629202"/>
              <a:gd name="csY0" fmla="*/ 0 h 41860"/>
              <a:gd name="csX1" fmla="*/ 2551769 w 2629202"/>
              <a:gd name="csY1" fmla="*/ 0 h 41860"/>
              <a:gd name="csX2" fmla="*/ 2620048 w 2629202"/>
              <a:gd name="csY2" fmla="*/ 28282 h 41860"/>
              <a:gd name="csX3" fmla="*/ 2629202 w 2629202"/>
              <a:gd name="csY3" fmla="*/ 41860 h 41860"/>
              <a:gd name="csX4" fmla="*/ 2610179 w 2629202"/>
              <a:gd name="csY4" fmla="*/ 38019 h 41860"/>
              <a:gd name="csX5" fmla="*/ 0 w 2629202"/>
              <a:gd name="csY5" fmla="*/ 38019 h 41860"/>
              <a:gd name="csX6" fmla="*/ 6564 w 2629202"/>
              <a:gd name="csY6" fmla="*/ 28282 h 41860"/>
              <a:gd name="csX7" fmla="*/ 74843 w 2629202"/>
              <a:gd name="csY7" fmla="*/ 0 h 418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629202" h="41860">
                <a:moveTo>
                  <a:pt x="74843" y="0"/>
                </a:moveTo>
                <a:lnTo>
                  <a:pt x="2551769" y="0"/>
                </a:lnTo>
                <a:cubicBezTo>
                  <a:pt x="2578434" y="0"/>
                  <a:pt x="2602574" y="10808"/>
                  <a:pt x="2620048" y="28282"/>
                </a:cubicBezTo>
                <a:lnTo>
                  <a:pt x="2629202" y="41860"/>
                </a:lnTo>
                <a:lnTo>
                  <a:pt x="2610179" y="38019"/>
                </a:lnTo>
                <a:lnTo>
                  <a:pt x="0" y="38019"/>
                </a:lnTo>
                <a:lnTo>
                  <a:pt x="6564" y="28282"/>
                </a:lnTo>
                <a:cubicBezTo>
                  <a:pt x="24038" y="10808"/>
                  <a:pt x="48179" y="0"/>
                  <a:pt x="74843" y="0"/>
                </a:cubicBezTo>
                <a:close/>
              </a:path>
            </a:pathLst>
          </a:cu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8434872A-BCAF-8D3C-0070-4DDDA1D60149}"/>
              </a:ext>
            </a:extLst>
          </p:cNvPr>
          <p:cNvSpPr/>
          <p:nvPr/>
        </p:nvSpPr>
        <p:spPr>
          <a:xfrm>
            <a:off x="9213221" y="4339101"/>
            <a:ext cx="2629202" cy="75463"/>
          </a:xfrm>
          <a:custGeom>
            <a:avLst/>
            <a:gdLst>
              <a:gd name="csX0" fmla="*/ 74843 w 2629202"/>
              <a:gd name="csY0" fmla="*/ 0 h 41860"/>
              <a:gd name="csX1" fmla="*/ 2551769 w 2629202"/>
              <a:gd name="csY1" fmla="*/ 0 h 41860"/>
              <a:gd name="csX2" fmla="*/ 2620048 w 2629202"/>
              <a:gd name="csY2" fmla="*/ 28282 h 41860"/>
              <a:gd name="csX3" fmla="*/ 2629202 w 2629202"/>
              <a:gd name="csY3" fmla="*/ 41860 h 41860"/>
              <a:gd name="csX4" fmla="*/ 2610179 w 2629202"/>
              <a:gd name="csY4" fmla="*/ 38019 h 41860"/>
              <a:gd name="csX5" fmla="*/ 0 w 2629202"/>
              <a:gd name="csY5" fmla="*/ 38019 h 41860"/>
              <a:gd name="csX6" fmla="*/ 6564 w 2629202"/>
              <a:gd name="csY6" fmla="*/ 28282 h 41860"/>
              <a:gd name="csX7" fmla="*/ 74843 w 2629202"/>
              <a:gd name="csY7" fmla="*/ 0 h 418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629202" h="41860">
                <a:moveTo>
                  <a:pt x="74843" y="0"/>
                </a:moveTo>
                <a:lnTo>
                  <a:pt x="2551769" y="0"/>
                </a:lnTo>
                <a:cubicBezTo>
                  <a:pt x="2578434" y="0"/>
                  <a:pt x="2602574" y="10808"/>
                  <a:pt x="2620048" y="28282"/>
                </a:cubicBezTo>
                <a:lnTo>
                  <a:pt x="2629202" y="41860"/>
                </a:lnTo>
                <a:lnTo>
                  <a:pt x="2610179" y="38019"/>
                </a:lnTo>
                <a:lnTo>
                  <a:pt x="0" y="38019"/>
                </a:lnTo>
                <a:lnTo>
                  <a:pt x="6564" y="28282"/>
                </a:lnTo>
                <a:cubicBezTo>
                  <a:pt x="24038" y="10808"/>
                  <a:pt x="48179" y="0"/>
                  <a:pt x="74843" y="0"/>
                </a:cubicBezTo>
                <a:close/>
              </a:path>
            </a:pathLst>
          </a:cu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7F07F9A6-D092-EB56-943A-7F73E2283211}"/>
              </a:ext>
            </a:extLst>
          </p:cNvPr>
          <p:cNvSpPr/>
          <p:nvPr/>
        </p:nvSpPr>
        <p:spPr>
          <a:xfrm>
            <a:off x="640080" y="5705856"/>
            <a:ext cx="175626" cy="621792"/>
          </a:xfrm>
          <a:custGeom>
            <a:avLst/>
            <a:gdLst>
              <a:gd name="csX0" fmla="*/ 48942 w 175626"/>
              <a:gd name="csY0" fmla="*/ 0 h 621792"/>
              <a:gd name="csX1" fmla="*/ 175626 w 175626"/>
              <a:gd name="csY1" fmla="*/ 0 h 621792"/>
              <a:gd name="csX2" fmla="*/ 126684 w 175626"/>
              <a:gd name="csY2" fmla="*/ 48942 h 621792"/>
              <a:gd name="csX3" fmla="*/ 126684 w 175626"/>
              <a:gd name="csY3" fmla="*/ 572850 h 621792"/>
              <a:gd name="csX4" fmla="*/ 175626 w 175626"/>
              <a:gd name="csY4" fmla="*/ 621792 h 621792"/>
              <a:gd name="csX5" fmla="*/ 48942 w 175626"/>
              <a:gd name="csY5" fmla="*/ 621792 h 621792"/>
              <a:gd name="csX6" fmla="*/ 0 w 175626"/>
              <a:gd name="csY6" fmla="*/ 572850 h 621792"/>
              <a:gd name="csX7" fmla="*/ 0 w 175626"/>
              <a:gd name="csY7" fmla="*/ 48942 h 621792"/>
              <a:gd name="csX8" fmla="*/ 48942 w 175626"/>
              <a:gd name="csY8" fmla="*/ 0 h 621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5626" h="621792">
                <a:moveTo>
                  <a:pt x="48942" y="0"/>
                </a:moveTo>
                <a:lnTo>
                  <a:pt x="175626" y="0"/>
                </a:lnTo>
                <a:cubicBezTo>
                  <a:pt x="148596" y="0"/>
                  <a:pt x="126684" y="21912"/>
                  <a:pt x="126684" y="48942"/>
                </a:cubicBezTo>
                <a:lnTo>
                  <a:pt x="126684" y="572850"/>
                </a:lnTo>
                <a:cubicBezTo>
                  <a:pt x="126684" y="599880"/>
                  <a:pt x="148596" y="621792"/>
                  <a:pt x="175626" y="621792"/>
                </a:cubicBezTo>
                <a:lnTo>
                  <a:pt x="48942" y="621792"/>
                </a:lnTo>
                <a:cubicBezTo>
                  <a:pt x="21912" y="621792"/>
                  <a:pt x="0" y="599880"/>
                  <a:pt x="0" y="572850"/>
                </a:cubicBezTo>
                <a:lnTo>
                  <a:pt x="0" y="48942"/>
                </a:lnTo>
                <a:cubicBezTo>
                  <a:pt x="0" y="21912"/>
                  <a:pt x="21912" y="0"/>
                  <a:pt x="48942" y="0"/>
                </a:cubicBezTo>
                <a:close/>
              </a:path>
            </a:pathLst>
          </a:custGeom>
          <a:solidFill>
            <a:srgbClr val="00B0F0"/>
          </a:solidFill>
          <a:ln w="12700">
            <a:solidFill>
              <a:srgbClr val="00B0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450"/>
                            </p:stCondLst>
                            <p:childTnLst>
                              <p:par>
                                <p:cTn id="1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8" grpId="0" animBg="1"/>
      <p:bldP spid="50" grpId="0" animBg="1"/>
      <p:bldP spid="54" grpId="0" animBg="1"/>
      <p:bldP spid="55" grpId="0" animBg="1"/>
      <p:bldP spid="56" grpId="0" animBg="1"/>
      <p:bldP spid="57" grpId="0" animBg="1"/>
      <p:bldP spid="6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1F5EB05-6DC3-CF55-C446-87B0275A4D54}"/>
              </a:ext>
            </a:extLst>
          </p:cNvPr>
          <p:cNvSpPr/>
          <p:nvPr/>
        </p:nvSpPr>
        <p:spPr>
          <a:xfrm>
            <a:off x="-563880" y="4434840"/>
            <a:ext cx="2926080" cy="292608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94360"/>
            <a:ext cx="5486400" cy="205594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0" b="1" i="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63240"/>
            <a:ext cx="2377440" cy="7315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 dirty="0">
                <a:solidFill>
                  <a:srgbClr val="E87B46"/>
                </a:solidFill>
                <a:latin typeface="Calibri"/>
              </a:rPr>
              <a:t>SECTION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11880"/>
            <a:ext cx="10424160" cy="70173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 i="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Workforce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9875520" cy="30162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How the company grew, where people sit, and what the hiring engine looked like over a decade.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315200" cy="19389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92240"/>
            <a:ext cx="960120" cy="20159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A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7899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8ED4F8"/>
                </a:solidFill>
                <a:latin typeface="Calibri"/>
              </a:rPr>
              <a:t>WORKFORCE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15568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Headcount by Department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7726679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1total_employee_by_depar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063707"/>
            <a:ext cx="7434071" cy="345296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298448"/>
            <a:ext cx="329184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14232" y="1444751"/>
            <a:ext cx="28346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17A2B8"/>
                </a:solidFill>
                <a:latin typeface="Calibri"/>
              </a:rPr>
              <a:t>BALANCED BY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4232" y="1755648"/>
            <a:ext cx="281635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A2F5C"/>
                </a:solidFill>
                <a:latin typeface="Calibri"/>
              </a:rPr>
              <a:t>Nine teams, one even spread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2487168"/>
            <a:ext cx="2788920" cy="3657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80" b="0" i="0">
                <a:solidFill>
                  <a:srgbClr val="1C2B39"/>
                </a:solidFill>
                <a:latin typeface="Calibri"/>
              </a:rPr>
              <a:t>Marketing is the largest team (11,216); Engineering the smallest (10,956) — a difference of just 260 people (2.3%) across 100,000 employees. No department is staffed like a flagship or starved; workforce planning has been deliberately even-handed.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7285"/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92240"/>
            <a:ext cx="9601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>
                <a:solidFill>
                  <a:srgbClr val="E87B46"/>
                </a:solidFill>
                <a:latin typeface="Calibri"/>
              </a:rPr>
              <a:t>05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08C055B-49AE-630C-C151-2A1629A79008}"/>
              </a:ext>
            </a:extLst>
          </p:cNvPr>
          <p:cNvSpPr/>
          <p:nvPr/>
        </p:nvSpPr>
        <p:spPr>
          <a:xfrm>
            <a:off x="8469087" y="1298448"/>
            <a:ext cx="293391" cy="4983480"/>
          </a:xfrm>
          <a:custGeom>
            <a:avLst/>
            <a:gdLst>
              <a:gd name="csX0" fmla="*/ 263347 w 393975"/>
              <a:gd name="csY0" fmla="*/ 0 h 4983480"/>
              <a:gd name="csX1" fmla="*/ 393975 w 393975"/>
              <a:gd name="csY1" fmla="*/ 0 h 4983480"/>
              <a:gd name="csX2" fmla="*/ 130628 w 393975"/>
              <a:gd name="csY2" fmla="*/ 263347 h 4983480"/>
              <a:gd name="csX3" fmla="*/ 130628 w 393975"/>
              <a:gd name="csY3" fmla="*/ 4720133 h 4983480"/>
              <a:gd name="csX4" fmla="*/ 393975 w 393975"/>
              <a:gd name="csY4" fmla="*/ 4983480 h 4983480"/>
              <a:gd name="csX5" fmla="*/ 263347 w 393975"/>
              <a:gd name="csY5" fmla="*/ 4983480 h 4983480"/>
              <a:gd name="csX6" fmla="*/ 0 w 393975"/>
              <a:gd name="csY6" fmla="*/ 4720133 h 4983480"/>
              <a:gd name="csX7" fmla="*/ 0 w 393975"/>
              <a:gd name="csY7" fmla="*/ 263347 h 4983480"/>
              <a:gd name="csX8" fmla="*/ 263347 w 393975"/>
              <a:gd name="csY8" fmla="*/ 0 h 49834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93975" h="4983480">
                <a:moveTo>
                  <a:pt x="263347" y="0"/>
                </a:moveTo>
                <a:lnTo>
                  <a:pt x="393975" y="0"/>
                </a:lnTo>
                <a:cubicBezTo>
                  <a:pt x="248532" y="0"/>
                  <a:pt x="130628" y="117904"/>
                  <a:pt x="130628" y="263347"/>
                </a:cubicBezTo>
                <a:lnTo>
                  <a:pt x="130628" y="4720133"/>
                </a:lnTo>
                <a:cubicBezTo>
                  <a:pt x="130628" y="4865576"/>
                  <a:pt x="248532" y="4983480"/>
                  <a:pt x="393975" y="4983480"/>
                </a:cubicBezTo>
                <a:lnTo>
                  <a:pt x="263347" y="4983480"/>
                </a:lnTo>
                <a:cubicBezTo>
                  <a:pt x="117904" y="4983480"/>
                  <a:pt x="0" y="4865576"/>
                  <a:pt x="0" y="4720133"/>
                </a:cubicBezTo>
                <a:lnTo>
                  <a:pt x="0" y="263347"/>
                </a:lnTo>
                <a:cubicBezTo>
                  <a:pt x="0" y="117904"/>
                  <a:pt x="117904" y="0"/>
                  <a:pt x="263347" y="0"/>
                </a:cubicBezTo>
                <a:close/>
              </a:path>
            </a:pathLst>
          </a:cu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A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7899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8ED4F8"/>
                </a:solidFill>
                <a:latin typeface="Calibri"/>
              </a:rPr>
              <a:t>WORKFORCE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15568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Hiring Trend, 2014–2024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7726679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5_hiring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802034"/>
            <a:ext cx="7434071" cy="397630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298448"/>
            <a:ext cx="329184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14232" y="1444751"/>
            <a:ext cx="28346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9B59B6"/>
                </a:solidFill>
                <a:latin typeface="Calibri"/>
              </a:rPr>
              <a:t>RAMP · PLATEAU · SHOCK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4232" y="1755648"/>
            <a:ext cx="281635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A2F5C"/>
                </a:solidFill>
                <a:latin typeface="Calibri"/>
              </a:rPr>
              <a:t>The 2024 cliff is the 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2487168"/>
            <a:ext cx="2788920" cy="3657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80" b="0" i="0">
                <a:solidFill>
                  <a:srgbClr val="1C2B39"/>
                </a:solidFill>
                <a:latin typeface="Calibri"/>
              </a:rPr>
              <a:t>2014→2015 headcount triples (3.1K→9.9K) in the build-out year; 2015–2023 is a stable plateau ~10K hires/year peaking at 10.1K in 2022. In 2024 hiring collapses to 6.9K — a 31% cut and the decade's only real shock, worth a post-mortem.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7285"/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92240"/>
            <a:ext cx="9601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>
                <a:solidFill>
                  <a:srgbClr val="E87B46"/>
                </a:solidFill>
                <a:latin typeface="Calibri"/>
              </a:rPr>
              <a:t>06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045211D-7C32-D11C-A58F-C1407C41BD46}"/>
              </a:ext>
            </a:extLst>
          </p:cNvPr>
          <p:cNvSpPr/>
          <p:nvPr/>
        </p:nvSpPr>
        <p:spPr>
          <a:xfrm>
            <a:off x="8469087" y="1298448"/>
            <a:ext cx="293391" cy="4983480"/>
          </a:xfrm>
          <a:custGeom>
            <a:avLst/>
            <a:gdLst>
              <a:gd name="csX0" fmla="*/ 263347 w 393975"/>
              <a:gd name="csY0" fmla="*/ 0 h 4983480"/>
              <a:gd name="csX1" fmla="*/ 393975 w 393975"/>
              <a:gd name="csY1" fmla="*/ 0 h 4983480"/>
              <a:gd name="csX2" fmla="*/ 130628 w 393975"/>
              <a:gd name="csY2" fmla="*/ 263347 h 4983480"/>
              <a:gd name="csX3" fmla="*/ 130628 w 393975"/>
              <a:gd name="csY3" fmla="*/ 4720133 h 4983480"/>
              <a:gd name="csX4" fmla="*/ 393975 w 393975"/>
              <a:gd name="csY4" fmla="*/ 4983480 h 4983480"/>
              <a:gd name="csX5" fmla="*/ 263347 w 393975"/>
              <a:gd name="csY5" fmla="*/ 4983480 h 4983480"/>
              <a:gd name="csX6" fmla="*/ 0 w 393975"/>
              <a:gd name="csY6" fmla="*/ 4720133 h 4983480"/>
              <a:gd name="csX7" fmla="*/ 0 w 393975"/>
              <a:gd name="csY7" fmla="*/ 263347 h 4983480"/>
              <a:gd name="csX8" fmla="*/ 263347 w 393975"/>
              <a:gd name="csY8" fmla="*/ 0 h 49834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93975" h="4983480">
                <a:moveTo>
                  <a:pt x="263347" y="0"/>
                </a:moveTo>
                <a:lnTo>
                  <a:pt x="393975" y="0"/>
                </a:lnTo>
                <a:cubicBezTo>
                  <a:pt x="248532" y="0"/>
                  <a:pt x="130628" y="117904"/>
                  <a:pt x="130628" y="263347"/>
                </a:cubicBezTo>
                <a:lnTo>
                  <a:pt x="130628" y="4720133"/>
                </a:lnTo>
                <a:cubicBezTo>
                  <a:pt x="130628" y="4865576"/>
                  <a:pt x="248532" y="4983480"/>
                  <a:pt x="393975" y="4983480"/>
                </a:cubicBezTo>
                <a:lnTo>
                  <a:pt x="263347" y="4983480"/>
                </a:lnTo>
                <a:cubicBezTo>
                  <a:pt x="117904" y="4983480"/>
                  <a:pt x="0" y="4865576"/>
                  <a:pt x="0" y="4720133"/>
                </a:cubicBezTo>
                <a:lnTo>
                  <a:pt x="0" y="263347"/>
                </a:lnTo>
                <a:cubicBezTo>
                  <a:pt x="0" y="117904"/>
                  <a:pt x="117904" y="0"/>
                  <a:pt x="263347" y="0"/>
                </a:cubicBezTo>
                <a:close/>
              </a:path>
            </a:pathLst>
          </a:cu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657600" cy="36576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94360"/>
            <a:ext cx="5486400" cy="205594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63240"/>
            <a:ext cx="2377440" cy="7315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E87B46"/>
                </a:solidFill>
                <a:latin typeface="Calibri"/>
              </a:rPr>
              <a:t>SECTION 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11880"/>
            <a:ext cx="10424160" cy="70173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Compensation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9875520" cy="30162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Who gets paid what — and why almost everything people THINK drives salary… doesn't.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315200" cy="19389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92240"/>
            <a:ext cx="960120" cy="20159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A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7899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8ED4F8"/>
                </a:solidFill>
                <a:latin typeface="Calibri"/>
              </a:rPr>
              <a:t>COMPENSATION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15568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Average Salary by Job Title — the 72% Gap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7726679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5_avg_monthly_salary_by_j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050411"/>
            <a:ext cx="7434071" cy="34795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298448"/>
            <a:ext cx="329184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14232" y="1444751"/>
            <a:ext cx="28346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E87B46"/>
                </a:solidFill>
                <a:latin typeface="Calibri"/>
              </a:rPr>
              <a:t>ROLE IS THE PAY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4232" y="1755648"/>
            <a:ext cx="281635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A2F5C"/>
                </a:solidFill>
                <a:latin typeface="Calibri"/>
              </a:rPr>
              <a:t>A $3,254 monthly chasm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2487168"/>
            <a:ext cx="2788920" cy="3657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80" b="0" i="0">
                <a:solidFill>
                  <a:srgbClr val="1C2B39"/>
                </a:solidFill>
                <a:latin typeface="Calibri"/>
              </a:rPr>
              <a:t>Engineers/Managers average $7,799 while Technicians average $4,545 — a 72% gap. Consultant ($7,152) and Developer ($6,490) sit mid-scale; Specialist ($5,855) and Analyst ($5,196) below. Job levelling is THE dial to turn for fairness and retention.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7285"/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92240"/>
            <a:ext cx="9601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>
                <a:solidFill>
                  <a:srgbClr val="E87B46"/>
                </a:solidFill>
                <a:latin typeface="Calibri"/>
              </a:rPr>
              <a:t>08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0A54B9A-9119-95BA-BB58-DE9CAAB2ADA6}"/>
              </a:ext>
            </a:extLst>
          </p:cNvPr>
          <p:cNvSpPr/>
          <p:nvPr/>
        </p:nvSpPr>
        <p:spPr>
          <a:xfrm>
            <a:off x="8469087" y="1298448"/>
            <a:ext cx="293391" cy="4983480"/>
          </a:xfrm>
          <a:custGeom>
            <a:avLst/>
            <a:gdLst>
              <a:gd name="csX0" fmla="*/ 263347 w 393975"/>
              <a:gd name="csY0" fmla="*/ 0 h 4983480"/>
              <a:gd name="csX1" fmla="*/ 393975 w 393975"/>
              <a:gd name="csY1" fmla="*/ 0 h 4983480"/>
              <a:gd name="csX2" fmla="*/ 130628 w 393975"/>
              <a:gd name="csY2" fmla="*/ 263347 h 4983480"/>
              <a:gd name="csX3" fmla="*/ 130628 w 393975"/>
              <a:gd name="csY3" fmla="*/ 4720133 h 4983480"/>
              <a:gd name="csX4" fmla="*/ 393975 w 393975"/>
              <a:gd name="csY4" fmla="*/ 4983480 h 4983480"/>
              <a:gd name="csX5" fmla="*/ 263347 w 393975"/>
              <a:gd name="csY5" fmla="*/ 4983480 h 4983480"/>
              <a:gd name="csX6" fmla="*/ 0 w 393975"/>
              <a:gd name="csY6" fmla="*/ 4720133 h 4983480"/>
              <a:gd name="csX7" fmla="*/ 0 w 393975"/>
              <a:gd name="csY7" fmla="*/ 263347 h 4983480"/>
              <a:gd name="csX8" fmla="*/ 263347 w 393975"/>
              <a:gd name="csY8" fmla="*/ 0 h 49834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93975" h="4983480">
                <a:moveTo>
                  <a:pt x="263347" y="0"/>
                </a:moveTo>
                <a:lnTo>
                  <a:pt x="393975" y="0"/>
                </a:lnTo>
                <a:cubicBezTo>
                  <a:pt x="248532" y="0"/>
                  <a:pt x="130628" y="117904"/>
                  <a:pt x="130628" y="263347"/>
                </a:cubicBezTo>
                <a:lnTo>
                  <a:pt x="130628" y="4720133"/>
                </a:lnTo>
                <a:cubicBezTo>
                  <a:pt x="130628" y="4865576"/>
                  <a:pt x="248532" y="4983480"/>
                  <a:pt x="393975" y="4983480"/>
                </a:cubicBezTo>
                <a:lnTo>
                  <a:pt x="263347" y="4983480"/>
                </a:lnTo>
                <a:cubicBezTo>
                  <a:pt x="117904" y="4983480"/>
                  <a:pt x="0" y="4865576"/>
                  <a:pt x="0" y="4720133"/>
                </a:cubicBezTo>
                <a:lnTo>
                  <a:pt x="0" y="263347"/>
                </a:lnTo>
                <a:cubicBezTo>
                  <a:pt x="0" y="117904"/>
                  <a:pt x="117904" y="0"/>
                  <a:pt x="263347" y="0"/>
                </a:cubicBezTo>
                <a:close/>
              </a:path>
            </a:pathLst>
          </a:cu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A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7899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8ED4F8"/>
                </a:solidFill>
                <a:latin typeface="Calibri"/>
              </a:rPr>
              <a:t>COMPENSATION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15568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The Great Equalisers: Education &amp; Gender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55321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4_avg_monthly_salary_by_edu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670437"/>
            <a:ext cx="5239512" cy="28679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298448"/>
            <a:ext cx="55321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11_avg_monthly_salary_by_g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964" y="1444751"/>
            <a:ext cx="4634030" cy="331927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5074920"/>
            <a:ext cx="112471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5221224"/>
            <a:ext cx="107899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219A55"/>
                </a:solidFill>
                <a:latin typeface="Calibri"/>
              </a:rPr>
              <a:t>MYTH BUSTED — AND A WIN TO PROTECT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5495544"/>
            <a:ext cx="10744200" cy="7498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60" b="0" i="0">
                <a:solidFill>
                  <a:srgbClr val="1C2B39"/>
                </a:solidFill>
                <a:latin typeface="Calibri"/>
              </a:rPr>
              <a:t>A PhD earns $6,431 vs a Bachelor's $6,398 — about $1/day more; education is table stakes, not a pay ladder. Gender pay gap ≈ 0.2% ($6,400–$6,415 across groups): pay equity is essentially achieved — protect it in every audit.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7285"/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92240"/>
            <a:ext cx="9601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>
                <a:solidFill>
                  <a:srgbClr val="E87B46"/>
                </a:solidFill>
                <a:latin typeface="Calibri"/>
              </a:rPr>
              <a:t>09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60F60F7-73CD-BF1D-6859-1EA4F5E07ED1}"/>
              </a:ext>
            </a:extLst>
          </p:cNvPr>
          <p:cNvSpPr/>
          <p:nvPr/>
        </p:nvSpPr>
        <p:spPr>
          <a:xfrm>
            <a:off x="479284" y="5081627"/>
            <a:ext cx="145808" cy="1207008"/>
          </a:xfrm>
          <a:custGeom>
            <a:avLst/>
            <a:gdLst>
              <a:gd name="csX0" fmla="*/ 96561 w 242405"/>
              <a:gd name="csY0" fmla="*/ 0 h 1207008"/>
              <a:gd name="csX1" fmla="*/ 242405 w 242405"/>
              <a:gd name="csY1" fmla="*/ 0 h 1207008"/>
              <a:gd name="csX2" fmla="*/ 145844 w 242405"/>
              <a:gd name="csY2" fmla="*/ 96561 h 1207008"/>
              <a:gd name="csX3" fmla="*/ 145844 w 242405"/>
              <a:gd name="csY3" fmla="*/ 1110447 h 1207008"/>
              <a:gd name="csX4" fmla="*/ 242405 w 242405"/>
              <a:gd name="csY4" fmla="*/ 1207008 h 1207008"/>
              <a:gd name="csX5" fmla="*/ 96561 w 242405"/>
              <a:gd name="csY5" fmla="*/ 1207008 h 1207008"/>
              <a:gd name="csX6" fmla="*/ 0 w 242405"/>
              <a:gd name="csY6" fmla="*/ 1110447 h 1207008"/>
              <a:gd name="csX7" fmla="*/ 0 w 242405"/>
              <a:gd name="csY7" fmla="*/ 96561 h 1207008"/>
              <a:gd name="csX8" fmla="*/ 96561 w 242405"/>
              <a:gd name="csY8" fmla="*/ 0 h 1207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42405" h="1207008">
                <a:moveTo>
                  <a:pt x="96561" y="0"/>
                </a:moveTo>
                <a:lnTo>
                  <a:pt x="242405" y="0"/>
                </a:lnTo>
                <a:cubicBezTo>
                  <a:pt x="189076" y="0"/>
                  <a:pt x="145844" y="43232"/>
                  <a:pt x="145844" y="96561"/>
                </a:cubicBezTo>
                <a:lnTo>
                  <a:pt x="145844" y="1110447"/>
                </a:lnTo>
                <a:cubicBezTo>
                  <a:pt x="145844" y="1163776"/>
                  <a:pt x="189076" y="1207008"/>
                  <a:pt x="242405" y="1207008"/>
                </a:cubicBezTo>
                <a:lnTo>
                  <a:pt x="96561" y="1207008"/>
                </a:lnTo>
                <a:cubicBezTo>
                  <a:pt x="43232" y="1207008"/>
                  <a:pt x="0" y="1163776"/>
                  <a:pt x="0" y="1110447"/>
                </a:cubicBezTo>
                <a:lnTo>
                  <a:pt x="0" y="96561"/>
                </a:lnTo>
                <a:cubicBezTo>
                  <a:pt x="0" y="43232"/>
                  <a:pt x="43232" y="0"/>
                  <a:pt x="96561" y="0"/>
                </a:cubicBezTo>
                <a:close/>
              </a:path>
            </a:pathLst>
          </a:custGeom>
          <a:solidFill>
            <a:srgbClr val="219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A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7899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8ED4F8"/>
                </a:solidFill>
                <a:latin typeface="Calibri"/>
              </a:rPr>
              <a:t>COMPENSATION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15568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Experience vs Salary: The Flatline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7726679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4_experience_vs_sal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784381"/>
            <a:ext cx="7434071" cy="40116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298448"/>
            <a:ext cx="329184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14232" y="1444751"/>
            <a:ext cx="28346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C0392B"/>
                </a:solidFill>
                <a:latin typeface="Calibri"/>
              </a:rPr>
              <a:t>LOYALTY ISN'T PRICED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4232" y="1755648"/>
            <a:ext cx="281635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A2F5C"/>
                </a:solidFill>
                <a:latin typeface="Calibri"/>
              </a:rPr>
              <a:t>Year 10 earns the least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2487168"/>
            <a:ext cx="2788920" cy="3657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80" b="0" i="0">
                <a:solidFill>
                  <a:srgbClr val="1C2B39"/>
                </a:solidFill>
                <a:latin typeface="Calibri"/>
              </a:rPr>
              <a:t>Year 0 earns $6,402; year 10 earns $6,348 — the most tenured cohort actually earns the LEAST, and the whole 11-year range is ~$70 wide. Without time-based progression, long-tenure staff have every reason to look elsewhere; tenure increments are a cheap retention fix.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7285"/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92240"/>
            <a:ext cx="9601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>
                <a:solidFill>
                  <a:srgbClr val="E87B46"/>
                </a:solidFill>
                <a:latin typeface="Calibri"/>
              </a:rPr>
              <a:t>10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AFA9FDE-7C43-D91D-99CC-84592AC8D53F}"/>
              </a:ext>
            </a:extLst>
          </p:cNvPr>
          <p:cNvSpPr/>
          <p:nvPr/>
        </p:nvSpPr>
        <p:spPr>
          <a:xfrm>
            <a:off x="8469087" y="1298448"/>
            <a:ext cx="293391" cy="4983480"/>
          </a:xfrm>
          <a:custGeom>
            <a:avLst/>
            <a:gdLst>
              <a:gd name="csX0" fmla="*/ 263347 w 393975"/>
              <a:gd name="csY0" fmla="*/ 0 h 4983480"/>
              <a:gd name="csX1" fmla="*/ 393975 w 393975"/>
              <a:gd name="csY1" fmla="*/ 0 h 4983480"/>
              <a:gd name="csX2" fmla="*/ 130628 w 393975"/>
              <a:gd name="csY2" fmla="*/ 263347 h 4983480"/>
              <a:gd name="csX3" fmla="*/ 130628 w 393975"/>
              <a:gd name="csY3" fmla="*/ 4720133 h 4983480"/>
              <a:gd name="csX4" fmla="*/ 393975 w 393975"/>
              <a:gd name="csY4" fmla="*/ 4983480 h 4983480"/>
              <a:gd name="csX5" fmla="*/ 263347 w 393975"/>
              <a:gd name="csY5" fmla="*/ 4983480 h 4983480"/>
              <a:gd name="csX6" fmla="*/ 0 w 393975"/>
              <a:gd name="csY6" fmla="*/ 4720133 h 4983480"/>
              <a:gd name="csX7" fmla="*/ 0 w 393975"/>
              <a:gd name="csY7" fmla="*/ 263347 h 4983480"/>
              <a:gd name="csX8" fmla="*/ 263347 w 393975"/>
              <a:gd name="csY8" fmla="*/ 0 h 49834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93975" h="4983480">
                <a:moveTo>
                  <a:pt x="263347" y="0"/>
                </a:moveTo>
                <a:lnTo>
                  <a:pt x="393975" y="0"/>
                </a:lnTo>
                <a:cubicBezTo>
                  <a:pt x="248532" y="0"/>
                  <a:pt x="130628" y="117904"/>
                  <a:pt x="130628" y="263347"/>
                </a:cubicBezTo>
                <a:lnTo>
                  <a:pt x="130628" y="4720133"/>
                </a:lnTo>
                <a:cubicBezTo>
                  <a:pt x="130628" y="4865576"/>
                  <a:pt x="248532" y="4983480"/>
                  <a:pt x="393975" y="4983480"/>
                </a:cubicBezTo>
                <a:lnTo>
                  <a:pt x="263347" y="4983480"/>
                </a:lnTo>
                <a:cubicBezTo>
                  <a:pt x="117904" y="4983480"/>
                  <a:pt x="0" y="4865576"/>
                  <a:pt x="0" y="4720133"/>
                </a:cubicBezTo>
                <a:lnTo>
                  <a:pt x="0" y="263347"/>
                </a:lnTo>
                <a:cubicBezTo>
                  <a:pt x="0" y="117904"/>
                  <a:pt x="117904" y="0"/>
                  <a:pt x="263347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657600" cy="36576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94360"/>
            <a:ext cx="5486400" cy="205594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63240"/>
            <a:ext cx="2377440" cy="7315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E87B46"/>
                </a:solidFill>
                <a:latin typeface="Calibri"/>
              </a:rPr>
              <a:t>SECTION THREE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11880"/>
            <a:ext cx="10424160" cy="70173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9875520" cy="54784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Ratings, training and promotions — and why the performance machine looks suspiciously like a random number generator.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315200" cy="19389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92240"/>
            <a:ext cx="960120" cy="20159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A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7899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8ED4F8"/>
                </a:solidFill>
                <a:latin typeface="Calibri"/>
              </a:rPr>
              <a:t>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15568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Performance Score Distribution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7726679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6_performance_sco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776734"/>
            <a:ext cx="7434071" cy="402690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298448"/>
            <a:ext cx="329184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14232" y="1444751"/>
            <a:ext cx="28346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C0392B"/>
                </a:solidFill>
                <a:latin typeface="Calibri"/>
              </a:rPr>
              <a:t>A WHITE-PICKET FENCE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4232" y="1755648"/>
            <a:ext cx="281635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A2F5C"/>
                </a:solidFill>
                <a:latin typeface="Calibri"/>
              </a:rPr>
              <a:t>20,000 people in every bucket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2487168"/>
            <a:ext cx="2788920" cy="3657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80" b="0" i="0">
                <a:solidFill>
                  <a:srgbClr val="1C2B39"/>
                </a:solidFill>
                <a:latin typeface="Calibri"/>
              </a:rPr>
              <a:t>20,120 / 20,013 / 19,999 / 19,940 / 19,928 employees at scores 1–5 — just 192 people between the best and worst groups. Real reviews produce stars and laggards; a perfectly uniform spread says ratings carry almost no information.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7285"/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92240"/>
            <a:ext cx="9601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>
                <a:solidFill>
                  <a:srgbClr val="E87B46"/>
                </a:solidFill>
                <a:latin typeface="Calibri"/>
              </a:rPr>
              <a:t>12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67C7983-988E-F026-C7C7-974278B7C9C9}"/>
              </a:ext>
            </a:extLst>
          </p:cNvPr>
          <p:cNvSpPr/>
          <p:nvPr/>
        </p:nvSpPr>
        <p:spPr>
          <a:xfrm>
            <a:off x="8469087" y="1298448"/>
            <a:ext cx="293391" cy="4983480"/>
          </a:xfrm>
          <a:custGeom>
            <a:avLst/>
            <a:gdLst>
              <a:gd name="csX0" fmla="*/ 263347 w 393975"/>
              <a:gd name="csY0" fmla="*/ 0 h 4983480"/>
              <a:gd name="csX1" fmla="*/ 393975 w 393975"/>
              <a:gd name="csY1" fmla="*/ 0 h 4983480"/>
              <a:gd name="csX2" fmla="*/ 130628 w 393975"/>
              <a:gd name="csY2" fmla="*/ 263347 h 4983480"/>
              <a:gd name="csX3" fmla="*/ 130628 w 393975"/>
              <a:gd name="csY3" fmla="*/ 4720133 h 4983480"/>
              <a:gd name="csX4" fmla="*/ 393975 w 393975"/>
              <a:gd name="csY4" fmla="*/ 4983480 h 4983480"/>
              <a:gd name="csX5" fmla="*/ 263347 w 393975"/>
              <a:gd name="csY5" fmla="*/ 4983480 h 4983480"/>
              <a:gd name="csX6" fmla="*/ 0 w 393975"/>
              <a:gd name="csY6" fmla="*/ 4720133 h 4983480"/>
              <a:gd name="csX7" fmla="*/ 0 w 393975"/>
              <a:gd name="csY7" fmla="*/ 263347 h 4983480"/>
              <a:gd name="csX8" fmla="*/ 263347 w 393975"/>
              <a:gd name="csY8" fmla="*/ 0 h 49834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93975" h="4983480">
                <a:moveTo>
                  <a:pt x="263347" y="0"/>
                </a:moveTo>
                <a:lnTo>
                  <a:pt x="393975" y="0"/>
                </a:lnTo>
                <a:cubicBezTo>
                  <a:pt x="248532" y="0"/>
                  <a:pt x="130628" y="117904"/>
                  <a:pt x="130628" y="263347"/>
                </a:cubicBezTo>
                <a:lnTo>
                  <a:pt x="130628" y="4720133"/>
                </a:lnTo>
                <a:cubicBezTo>
                  <a:pt x="130628" y="4865576"/>
                  <a:pt x="248532" y="4983480"/>
                  <a:pt x="393975" y="4983480"/>
                </a:cubicBezTo>
                <a:lnTo>
                  <a:pt x="263347" y="4983480"/>
                </a:lnTo>
                <a:cubicBezTo>
                  <a:pt x="117904" y="4983480"/>
                  <a:pt x="0" y="4865576"/>
                  <a:pt x="0" y="4720133"/>
                </a:cubicBezTo>
                <a:lnTo>
                  <a:pt x="0" y="263347"/>
                </a:lnTo>
                <a:cubicBezTo>
                  <a:pt x="0" y="117904"/>
                  <a:pt x="117904" y="0"/>
                  <a:pt x="263347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A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7899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8ED4F8"/>
                </a:solidFill>
                <a:latin typeface="Calibri"/>
              </a:rPr>
              <a:t>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15568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Training Hours vs Performance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7726679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7_avg_training_hours_by_performance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712890"/>
            <a:ext cx="7434071" cy="415459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298448"/>
            <a:ext cx="329184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14232" y="1444751"/>
            <a:ext cx="28346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E87B46"/>
                </a:solidFill>
                <a:latin typeface="Calibri"/>
              </a:rPr>
              <a:t>ENTITLEMENT, NOT INTERVENTION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4232" y="1755648"/>
            <a:ext cx="281635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A2F5C"/>
                </a:solidFill>
                <a:latin typeface="Calibri"/>
              </a:rPr>
              <a:t>A 25-minute range all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2487168"/>
            <a:ext cx="2788920" cy="3657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80" b="0" i="0">
                <a:solidFill>
                  <a:srgbClr val="1C2B39"/>
                </a:solidFill>
                <a:latin typeface="Calibri"/>
              </a:rPr>
              <a:t>Score 1 receives 49.45 training hours; score 5 receives 49.57 — a 25-MINUTE difference across a full year. Promotions don't move ratings either (3.01 with zero promotions vs 2.99 with 1–2). Training should be targeted at low performers and measured for lift.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7285"/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92240"/>
            <a:ext cx="9601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>
                <a:solidFill>
                  <a:srgbClr val="E87B46"/>
                </a:solidFill>
                <a:latin typeface="Calibri"/>
              </a:rPr>
              <a:t>13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CD0BF0-B182-D31A-59A5-9568AD6445B2}"/>
              </a:ext>
            </a:extLst>
          </p:cNvPr>
          <p:cNvSpPr/>
          <p:nvPr/>
        </p:nvSpPr>
        <p:spPr>
          <a:xfrm>
            <a:off x="8469087" y="1298448"/>
            <a:ext cx="293391" cy="4983480"/>
          </a:xfrm>
          <a:custGeom>
            <a:avLst/>
            <a:gdLst>
              <a:gd name="csX0" fmla="*/ 263347 w 393975"/>
              <a:gd name="csY0" fmla="*/ 0 h 4983480"/>
              <a:gd name="csX1" fmla="*/ 393975 w 393975"/>
              <a:gd name="csY1" fmla="*/ 0 h 4983480"/>
              <a:gd name="csX2" fmla="*/ 130628 w 393975"/>
              <a:gd name="csY2" fmla="*/ 263347 h 4983480"/>
              <a:gd name="csX3" fmla="*/ 130628 w 393975"/>
              <a:gd name="csY3" fmla="*/ 4720133 h 4983480"/>
              <a:gd name="csX4" fmla="*/ 393975 w 393975"/>
              <a:gd name="csY4" fmla="*/ 4983480 h 4983480"/>
              <a:gd name="csX5" fmla="*/ 263347 w 393975"/>
              <a:gd name="csY5" fmla="*/ 4983480 h 4983480"/>
              <a:gd name="csX6" fmla="*/ 0 w 393975"/>
              <a:gd name="csY6" fmla="*/ 4720133 h 4983480"/>
              <a:gd name="csX7" fmla="*/ 0 w 393975"/>
              <a:gd name="csY7" fmla="*/ 263347 h 4983480"/>
              <a:gd name="csX8" fmla="*/ 263347 w 393975"/>
              <a:gd name="csY8" fmla="*/ 0 h 49834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93975" h="4983480">
                <a:moveTo>
                  <a:pt x="263347" y="0"/>
                </a:moveTo>
                <a:lnTo>
                  <a:pt x="393975" y="0"/>
                </a:lnTo>
                <a:cubicBezTo>
                  <a:pt x="248532" y="0"/>
                  <a:pt x="130628" y="117904"/>
                  <a:pt x="130628" y="263347"/>
                </a:cubicBezTo>
                <a:lnTo>
                  <a:pt x="130628" y="4720133"/>
                </a:lnTo>
                <a:cubicBezTo>
                  <a:pt x="130628" y="4865576"/>
                  <a:pt x="248532" y="4983480"/>
                  <a:pt x="393975" y="4983480"/>
                </a:cubicBezTo>
                <a:lnTo>
                  <a:pt x="263347" y="4983480"/>
                </a:lnTo>
                <a:cubicBezTo>
                  <a:pt x="117904" y="4983480"/>
                  <a:pt x="0" y="4865576"/>
                  <a:pt x="0" y="4720133"/>
                </a:cubicBezTo>
                <a:lnTo>
                  <a:pt x="0" y="263347"/>
                </a:lnTo>
                <a:cubicBezTo>
                  <a:pt x="0" y="117904"/>
                  <a:pt x="117904" y="0"/>
                  <a:pt x="263347" y="0"/>
                </a:cubicBezTo>
                <a:close/>
              </a:path>
            </a:pathLst>
          </a:cu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A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7899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8ED4F8"/>
                </a:solidFill>
                <a:latin typeface="Calibri"/>
              </a:rPr>
              <a:t>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15568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Ratings by Job Title &amp; Education — Everything Is a 3.00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55321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7_performance_score_by_job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648394"/>
            <a:ext cx="5239512" cy="291198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298448"/>
            <a:ext cx="55321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18_performance_score_by_education_le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139" y="1444751"/>
            <a:ext cx="4877681" cy="331927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5074920"/>
            <a:ext cx="112471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5221224"/>
            <a:ext cx="107899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9B59B6"/>
                </a:solidFill>
                <a:latin typeface="Calibri"/>
              </a:rPr>
              <a:t>UNDIFFERENTIATED ACROSS THE 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5495544"/>
            <a:ext cx="10744200" cy="7498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60" b="0" i="0">
                <a:solidFill>
                  <a:srgbClr val="1C2B39"/>
                </a:solidFill>
                <a:latin typeface="Calibri"/>
              </a:rPr>
              <a:t>Every job title scores 2.98–3.01, every education level 2.99–3.02, every gender 2.99–3.00. Yet Performance ↔ Salary is the dataset's ONLY real correlation (r = 0.51): uninformative ratings are driving pay. Reviews need evidence anchors and manager calibration.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7285"/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92240"/>
            <a:ext cx="9601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>
                <a:solidFill>
                  <a:srgbClr val="E87B46"/>
                </a:solidFill>
                <a:latin typeface="Calibri"/>
              </a:rPr>
              <a:t>14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942ABF0-D999-1811-98F7-A327F2025995}"/>
              </a:ext>
            </a:extLst>
          </p:cNvPr>
          <p:cNvSpPr/>
          <p:nvPr/>
        </p:nvSpPr>
        <p:spPr>
          <a:xfrm>
            <a:off x="479284" y="5081627"/>
            <a:ext cx="145808" cy="1207008"/>
          </a:xfrm>
          <a:custGeom>
            <a:avLst/>
            <a:gdLst>
              <a:gd name="csX0" fmla="*/ 96561 w 242405"/>
              <a:gd name="csY0" fmla="*/ 0 h 1207008"/>
              <a:gd name="csX1" fmla="*/ 242405 w 242405"/>
              <a:gd name="csY1" fmla="*/ 0 h 1207008"/>
              <a:gd name="csX2" fmla="*/ 145844 w 242405"/>
              <a:gd name="csY2" fmla="*/ 96561 h 1207008"/>
              <a:gd name="csX3" fmla="*/ 145844 w 242405"/>
              <a:gd name="csY3" fmla="*/ 1110447 h 1207008"/>
              <a:gd name="csX4" fmla="*/ 242405 w 242405"/>
              <a:gd name="csY4" fmla="*/ 1207008 h 1207008"/>
              <a:gd name="csX5" fmla="*/ 96561 w 242405"/>
              <a:gd name="csY5" fmla="*/ 1207008 h 1207008"/>
              <a:gd name="csX6" fmla="*/ 0 w 242405"/>
              <a:gd name="csY6" fmla="*/ 1110447 h 1207008"/>
              <a:gd name="csX7" fmla="*/ 0 w 242405"/>
              <a:gd name="csY7" fmla="*/ 96561 h 1207008"/>
              <a:gd name="csX8" fmla="*/ 96561 w 242405"/>
              <a:gd name="csY8" fmla="*/ 0 h 1207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42405" h="1207008">
                <a:moveTo>
                  <a:pt x="96561" y="0"/>
                </a:moveTo>
                <a:lnTo>
                  <a:pt x="242405" y="0"/>
                </a:lnTo>
                <a:cubicBezTo>
                  <a:pt x="189076" y="0"/>
                  <a:pt x="145844" y="43232"/>
                  <a:pt x="145844" y="96561"/>
                </a:cubicBezTo>
                <a:lnTo>
                  <a:pt x="145844" y="1110447"/>
                </a:lnTo>
                <a:cubicBezTo>
                  <a:pt x="145844" y="1163776"/>
                  <a:pt x="189076" y="1207008"/>
                  <a:pt x="242405" y="1207008"/>
                </a:cubicBezTo>
                <a:lnTo>
                  <a:pt x="96561" y="1207008"/>
                </a:lnTo>
                <a:cubicBezTo>
                  <a:pt x="43232" y="1207008"/>
                  <a:pt x="0" y="1163776"/>
                  <a:pt x="0" y="1110447"/>
                </a:cubicBezTo>
                <a:lnTo>
                  <a:pt x="0" y="96561"/>
                </a:lnTo>
                <a:cubicBezTo>
                  <a:pt x="0" y="43232"/>
                  <a:pt x="43232" y="0"/>
                  <a:pt x="96561" y="0"/>
                </a:cubicBezTo>
                <a:close/>
              </a:path>
            </a:pathLst>
          </a:cu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657600" cy="36576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94360"/>
            <a:ext cx="5486400" cy="205594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63240"/>
            <a:ext cx="2377440" cy="7315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E87B46"/>
                </a:solidFill>
                <a:latin typeface="Calibri"/>
              </a:rPr>
              <a:t>SECTION FOUR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11880"/>
            <a:ext cx="10424160" cy="70173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Attrition &amp; Satisfaction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9875520" cy="54784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10,010 people left. The data can barely tell them apart from the 89,990 who stayed — and that's the most important finding of 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315200" cy="19389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92240"/>
            <a:ext cx="960120" cy="20159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A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7899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8ED4F8"/>
                </a:solidFill>
                <a:latin typeface="Calibri"/>
              </a:rPr>
              <a:t>ATTRITION &amp; SATISFACTION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15568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Attrition Rate by Department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7726679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2_attrition_rate_by_depar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023707"/>
            <a:ext cx="7434071" cy="3532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298448"/>
            <a:ext cx="329184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14232" y="1444751"/>
            <a:ext cx="28346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C0392B"/>
                </a:solidFill>
                <a:latin typeface="Calibri"/>
              </a:rPr>
              <a:t>A COMPANY-WIDE CONSTANT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4232" y="1755648"/>
            <a:ext cx="281635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A2F5C"/>
                </a:solidFill>
                <a:latin typeface="Calibri"/>
              </a:rPr>
              <a:t>Turnover isn't 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2487168"/>
            <a:ext cx="2788920" cy="3657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80" b="0" i="0">
                <a:solidFill>
                  <a:srgbClr val="1C2B39"/>
                </a:solidFill>
                <a:latin typeface="Calibri"/>
              </a:rPr>
              <a:t>Finance leads at 10.54%, IT is lowest at 9.56% — the entire 9-department range is under 1 percentage point. Education is flat too (PhD 10.31% → Master 9.98%). Turnover points to systemic causes, not 'bad managers' — local fixes won't move a global number.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7285"/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92240"/>
            <a:ext cx="9601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>
                <a:solidFill>
                  <a:srgbClr val="E87B46"/>
                </a:solidFill>
                <a:latin typeface="Calibri"/>
              </a:rPr>
              <a:t>16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EA6A3ED-075B-754F-04D4-3AC1034458B0}"/>
              </a:ext>
            </a:extLst>
          </p:cNvPr>
          <p:cNvSpPr/>
          <p:nvPr/>
        </p:nvSpPr>
        <p:spPr>
          <a:xfrm>
            <a:off x="8469087" y="1298448"/>
            <a:ext cx="293391" cy="4983480"/>
          </a:xfrm>
          <a:custGeom>
            <a:avLst/>
            <a:gdLst>
              <a:gd name="csX0" fmla="*/ 263347 w 393975"/>
              <a:gd name="csY0" fmla="*/ 0 h 4983480"/>
              <a:gd name="csX1" fmla="*/ 393975 w 393975"/>
              <a:gd name="csY1" fmla="*/ 0 h 4983480"/>
              <a:gd name="csX2" fmla="*/ 130628 w 393975"/>
              <a:gd name="csY2" fmla="*/ 263347 h 4983480"/>
              <a:gd name="csX3" fmla="*/ 130628 w 393975"/>
              <a:gd name="csY3" fmla="*/ 4720133 h 4983480"/>
              <a:gd name="csX4" fmla="*/ 393975 w 393975"/>
              <a:gd name="csY4" fmla="*/ 4983480 h 4983480"/>
              <a:gd name="csX5" fmla="*/ 263347 w 393975"/>
              <a:gd name="csY5" fmla="*/ 4983480 h 4983480"/>
              <a:gd name="csX6" fmla="*/ 0 w 393975"/>
              <a:gd name="csY6" fmla="*/ 4720133 h 4983480"/>
              <a:gd name="csX7" fmla="*/ 0 w 393975"/>
              <a:gd name="csY7" fmla="*/ 263347 h 4983480"/>
              <a:gd name="csX8" fmla="*/ 263347 w 393975"/>
              <a:gd name="csY8" fmla="*/ 0 h 49834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93975" h="4983480">
                <a:moveTo>
                  <a:pt x="263347" y="0"/>
                </a:moveTo>
                <a:lnTo>
                  <a:pt x="393975" y="0"/>
                </a:lnTo>
                <a:cubicBezTo>
                  <a:pt x="248532" y="0"/>
                  <a:pt x="130628" y="117904"/>
                  <a:pt x="130628" y="263347"/>
                </a:cubicBezTo>
                <a:lnTo>
                  <a:pt x="130628" y="4720133"/>
                </a:lnTo>
                <a:cubicBezTo>
                  <a:pt x="130628" y="4865576"/>
                  <a:pt x="248532" y="4983480"/>
                  <a:pt x="393975" y="4983480"/>
                </a:cubicBezTo>
                <a:lnTo>
                  <a:pt x="263347" y="4983480"/>
                </a:lnTo>
                <a:cubicBezTo>
                  <a:pt x="117904" y="4983480"/>
                  <a:pt x="0" y="4865576"/>
                  <a:pt x="0" y="4720133"/>
                </a:cubicBezTo>
                <a:lnTo>
                  <a:pt x="0" y="263347"/>
                </a:lnTo>
                <a:cubicBezTo>
                  <a:pt x="0" y="117904"/>
                  <a:pt x="117904" y="0"/>
                  <a:pt x="263347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A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7899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8ED4F8"/>
                </a:solidFill>
                <a:latin typeface="Calibri"/>
              </a:rPr>
              <a:t>ATTRITION &amp; SATISFACTION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15568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The Satisfaction Paradox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7726679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9_avg_satisfaction_resig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384" y="1444752"/>
            <a:ext cx="6393750" cy="46908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298448"/>
            <a:ext cx="329184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14232" y="1444751"/>
            <a:ext cx="28346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C0392B"/>
                </a:solidFill>
                <a:latin typeface="Calibri"/>
              </a:rPr>
              <a:t>THE EXIT SIGNAL IS MISSING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4232" y="1755648"/>
            <a:ext cx="281635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A2F5C"/>
                </a:solidFill>
                <a:latin typeface="Calibri"/>
              </a:rPr>
              <a:t>Stayed 3.00 vs Resigned 2.99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2487168"/>
            <a:ext cx="2788920" cy="3657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80" b="0" i="0">
                <a:solidFill>
                  <a:srgbClr val="1C2B39"/>
                </a:solidFill>
                <a:latin typeface="Calibri"/>
              </a:rPr>
              <a:t>A 0.01 difference on a 5-point scale: the people who walked out were statistically exactly as happy as those who stayed. Satisfaction surveys predict ZERO attrition. Replace passive mood scoring with intent-to-stay pulses, manager-quality signals and compa-ratio flags.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7285"/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92240"/>
            <a:ext cx="9601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>
                <a:solidFill>
                  <a:srgbClr val="E87B46"/>
                </a:solidFill>
                <a:latin typeface="Calibri"/>
              </a:rPr>
              <a:t>17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B575D07-4F1D-4DA7-532E-DC2F9E793F21}"/>
              </a:ext>
            </a:extLst>
          </p:cNvPr>
          <p:cNvSpPr/>
          <p:nvPr/>
        </p:nvSpPr>
        <p:spPr>
          <a:xfrm>
            <a:off x="8469087" y="1298448"/>
            <a:ext cx="293391" cy="4983480"/>
          </a:xfrm>
          <a:custGeom>
            <a:avLst/>
            <a:gdLst>
              <a:gd name="csX0" fmla="*/ 263347 w 393975"/>
              <a:gd name="csY0" fmla="*/ 0 h 4983480"/>
              <a:gd name="csX1" fmla="*/ 393975 w 393975"/>
              <a:gd name="csY1" fmla="*/ 0 h 4983480"/>
              <a:gd name="csX2" fmla="*/ 130628 w 393975"/>
              <a:gd name="csY2" fmla="*/ 263347 h 4983480"/>
              <a:gd name="csX3" fmla="*/ 130628 w 393975"/>
              <a:gd name="csY3" fmla="*/ 4720133 h 4983480"/>
              <a:gd name="csX4" fmla="*/ 393975 w 393975"/>
              <a:gd name="csY4" fmla="*/ 4983480 h 4983480"/>
              <a:gd name="csX5" fmla="*/ 263347 w 393975"/>
              <a:gd name="csY5" fmla="*/ 4983480 h 4983480"/>
              <a:gd name="csX6" fmla="*/ 0 w 393975"/>
              <a:gd name="csY6" fmla="*/ 4720133 h 4983480"/>
              <a:gd name="csX7" fmla="*/ 0 w 393975"/>
              <a:gd name="csY7" fmla="*/ 263347 h 4983480"/>
              <a:gd name="csX8" fmla="*/ 263347 w 393975"/>
              <a:gd name="csY8" fmla="*/ 0 h 49834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93975" h="4983480">
                <a:moveTo>
                  <a:pt x="263347" y="0"/>
                </a:moveTo>
                <a:lnTo>
                  <a:pt x="393975" y="0"/>
                </a:lnTo>
                <a:cubicBezTo>
                  <a:pt x="248532" y="0"/>
                  <a:pt x="130628" y="117904"/>
                  <a:pt x="130628" y="263347"/>
                </a:cubicBezTo>
                <a:lnTo>
                  <a:pt x="130628" y="4720133"/>
                </a:lnTo>
                <a:cubicBezTo>
                  <a:pt x="130628" y="4865576"/>
                  <a:pt x="248532" y="4983480"/>
                  <a:pt x="393975" y="4983480"/>
                </a:cubicBezTo>
                <a:lnTo>
                  <a:pt x="263347" y="4983480"/>
                </a:lnTo>
                <a:cubicBezTo>
                  <a:pt x="117904" y="4983480"/>
                  <a:pt x="0" y="4865576"/>
                  <a:pt x="0" y="4720133"/>
                </a:cubicBezTo>
                <a:lnTo>
                  <a:pt x="0" y="263347"/>
                </a:lnTo>
                <a:cubicBezTo>
                  <a:pt x="0" y="117904"/>
                  <a:pt x="117904" y="0"/>
                  <a:pt x="263347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A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7899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8ED4F8"/>
                </a:solidFill>
                <a:latin typeface="Calibri"/>
              </a:rPr>
              <a:t>ATTRITION &amp; SATISFACTION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15568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Attrition vs Remote Work Frequency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7726679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0_attrition_rate_by_remote_work_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84" y="1444752"/>
            <a:ext cx="6979751" cy="46908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298448"/>
            <a:ext cx="329184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14232" y="1444751"/>
            <a:ext cx="28346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E87B46"/>
                </a:solidFill>
                <a:latin typeface="Calibri"/>
              </a:rPr>
              <a:t>A TUNING KNOB, NOT A DRIVER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4232" y="1755648"/>
            <a:ext cx="281635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A2F5C"/>
                </a:solidFill>
                <a:latin typeface="Calibri"/>
              </a:rPr>
              <a:t>0.8 points from end to 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2487168"/>
            <a:ext cx="2788920" cy="3657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80" b="0" i="0">
                <a:solidFill>
                  <a:srgbClr val="1C2B39"/>
                </a:solidFill>
                <a:latin typeface="Calibri"/>
              </a:rPr>
              <a:t>Fully in-office (0%) = 9.48% attrition; 75% remote = 10.28% peak; fully remote = 10.17%. The whole curve spans just 0.8 points — remote policy isn't the cause. But paired with the 2024 hiring cliff, hybrid-heavy teams deserve a closer qualitative look.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7285"/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92240"/>
            <a:ext cx="9601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>
                <a:solidFill>
                  <a:srgbClr val="E87B46"/>
                </a:solidFill>
                <a:latin typeface="Calibri"/>
              </a:rPr>
              <a:t>18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6080B76-32F7-8A05-1FA5-BC183930DF42}"/>
              </a:ext>
            </a:extLst>
          </p:cNvPr>
          <p:cNvSpPr/>
          <p:nvPr/>
        </p:nvSpPr>
        <p:spPr>
          <a:xfrm>
            <a:off x="8469087" y="1298448"/>
            <a:ext cx="293391" cy="4983480"/>
          </a:xfrm>
          <a:custGeom>
            <a:avLst/>
            <a:gdLst>
              <a:gd name="csX0" fmla="*/ 263347 w 393975"/>
              <a:gd name="csY0" fmla="*/ 0 h 4983480"/>
              <a:gd name="csX1" fmla="*/ 393975 w 393975"/>
              <a:gd name="csY1" fmla="*/ 0 h 4983480"/>
              <a:gd name="csX2" fmla="*/ 130628 w 393975"/>
              <a:gd name="csY2" fmla="*/ 263347 h 4983480"/>
              <a:gd name="csX3" fmla="*/ 130628 w 393975"/>
              <a:gd name="csY3" fmla="*/ 4720133 h 4983480"/>
              <a:gd name="csX4" fmla="*/ 393975 w 393975"/>
              <a:gd name="csY4" fmla="*/ 4983480 h 4983480"/>
              <a:gd name="csX5" fmla="*/ 263347 w 393975"/>
              <a:gd name="csY5" fmla="*/ 4983480 h 4983480"/>
              <a:gd name="csX6" fmla="*/ 0 w 393975"/>
              <a:gd name="csY6" fmla="*/ 4720133 h 4983480"/>
              <a:gd name="csX7" fmla="*/ 0 w 393975"/>
              <a:gd name="csY7" fmla="*/ 263347 h 4983480"/>
              <a:gd name="csX8" fmla="*/ 263347 w 393975"/>
              <a:gd name="csY8" fmla="*/ 0 h 49834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93975" h="4983480">
                <a:moveTo>
                  <a:pt x="263347" y="0"/>
                </a:moveTo>
                <a:lnTo>
                  <a:pt x="393975" y="0"/>
                </a:lnTo>
                <a:cubicBezTo>
                  <a:pt x="248532" y="0"/>
                  <a:pt x="130628" y="117904"/>
                  <a:pt x="130628" y="263347"/>
                </a:cubicBezTo>
                <a:lnTo>
                  <a:pt x="130628" y="4720133"/>
                </a:lnTo>
                <a:cubicBezTo>
                  <a:pt x="130628" y="4865576"/>
                  <a:pt x="248532" y="4983480"/>
                  <a:pt x="393975" y="4983480"/>
                </a:cubicBezTo>
                <a:lnTo>
                  <a:pt x="263347" y="4983480"/>
                </a:lnTo>
                <a:cubicBezTo>
                  <a:pt x="117904" y="4983480"/>
                  <a:pt x="0" y="4865576"/>
                  <a:pt x="0" y="4720133"/>
                </a:cubicBezTo>
                <a:lnTo>
                  <a:pt x="0" y="263347"/>
                </a:lnTo>
                <a:cubicBezTo>
                  <a:pt x="0" y="117904"/>
                  <a:pt x="117904" y="0"/>
                  <a:pt x="263347" y="0"/>
                </a:cubicBezTo>
                <a:close/>
              </a:path>
            </a:pathLst>
          </a:cu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A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7899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8ED4F8"/>
                </a:solidFill>
                <a:latin typeface="Calibri"/>
              </a:rPr>
              <a:t>THE STATISTICAL HEART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15568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Correlation Matrix: One Signal in a Sea of Zeroes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690372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20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75" y="1444752"/>
            <a:ext cx="6561808" cy="46908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1298448"/>
            <a:ext cx="411480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91271" y="1444751"/>
            <a:ext cx="3657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1F77B4"/>
                </a:solidFill>
                <a:latin typeface="Calibri"/>
              </a:rPr>
              <a:t>R = 0.51 IS THE WHOLE GAME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1" y="1755648"/>
            <a:ext cx="363931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A2F5C"/>
                </a:solidFill>
                <a:latin typeface="Calibri"/>
              </a:rPr>
              <a:t>One relationship survives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1" y="2487168"/>
            <a:ext cx="3611880" cy="3657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80" b="0" i="0">
                <a:solidFill>
                  <a:srgbClr val="1C2B39"/>
                </a:solidFill>
                <a:latin typeface="Calibri"/>
              </a:rPr>
              <a:t>Across 15 numeric features, Performance ↔ Salary (0.51) is the only correlation that isn't noise. Training↔performance, tenure↔salary, satisfaction↔attrition and hours↔overtime all round to 0.00.
A dashboard that finds 'nothing relates' is not a failed analysis — it's a diagnosis: people processes are running unmeasured. That's where strategy starts.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7285"/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92240"/>
            <a:ext cx="9601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>
                <a:solidFill>
                  <a:srgbClr val="E87B46"/>
                </a:solidFill>
                <a:latin typeface="Calibri"/>
              </a:rPr>
              <a:t>19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84AC467-C6FF-6D75-B7D6-829427DD9B47}"/>
              </a:ext>
            </a:extLst>
          </p:cNvPr>
          <p:cNvSpPr/>
          <p:nvPr/>
        </p:nvSpPr>
        <p:spPr>
          <a:xfrm>
            <a:off x="7597880" y="1312708"/>
            <a:ext cx="293391" cy="4983480"/>
          </a:xfrm>
          <a:custGeom>
            <a:avLst/>
            <a:gdLst>
              <a:gd name="csX0" fmla="*/ 263347 w 393975"/>
              <a:gd name="csY0" fmla="*/ 0 h 4983480"/>
              <a:gd name="csX1" fmla="*/ 393975 w 393975"/>
              <a:gd name="csY1" fmla="*/ 0 h 4983480"/>
              <a:gd name="csX2" fmla="*/ 130628 w 393975"/>
              <a:gd name="csY2" fmla="*/ 263347 h 4983480"/>
              <a:gd name="csX3" fmla="*/ 130628 w 393975"/>
              <a:gd name="csY3" fmla="*/ 4720133 h 4983480"/>
              <a:gd name="csX4" fmla="*/ 393975 w 393975"/>
              <a:gd name="csY4" fmla="*/ 4983480 h 4983480"/>
              <a:gd name="csX5" fmla="*/ 263347 w 393975"/>
              <a:gd name="csY5" fmla="*/ 4983480 h 4983480"/>
              <a:gd name="csX6" fmla="*/ 0 w 393975"/>
              <a:gd name="csY6" fmla="*/ 4720133 h 4983480"/>
              <a:gd name="csX7" fmla="*/ 0 w 393975"/>
              <a:gd name="csY7" fmla="*/ 263347 h 4983480"/>
              <a:gd name="csX8" fmla="*/ 263347 w 393975"/>
              <a:gd name="csY8" fmla="*/ 0 h 49834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93975" h="4983480">
                <a:moveTo>
                  <a:pt x="263347" y="0"/>
                </a:moveTo>
                <a:lnTo>
                  <a:pt x="393975" y="0"/>
                </a:lnTo>
                <a:cubicBezTo>
                  <a:pt x="248532" y="0"/>
                  <a:pt x="130628" y="117904"/>
                  <a:pt x="130628" y="263347"/>
                </a:cubicBezTo>
                <a:lnTo>
                  <a:pt x="130628" y="4720133"/>
                </a:lnTo>
                <a:cubicBezTo>
                  <a:pt x="130628" y="4865576"/>
                  <a:pt x="248532" y="4983480"/>
                  <a:pt x="393975" y="4983480"/>
                </a:cubicBezTo>
                <a:lnTo>
                  <a:pt x="263347" y="4983480"/>
                </a:lnTo>
                <a:cubicBezTo>
                  <a:pt x="117904" y="4983480"/>
                  <a:pt x="0" y="4865576"/>
                  <a:pt x="0" y="4720133"/>
                </a:cubicBezTo>
                <a:lnTo>
                  <a:pt x="0" y="263347"/>
                </a:lnTo>
                <a:cubicBezTo>
                  <a:pt x="0" y="117904"/>
                  <a:pt x="117904" y="0"/>
                  <a:pt x="263347" y="0"/>
                </a:cubicBezTo>
                <a:close/>
              </a:path>
            </a:pathLst>
          </a:cu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A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7899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8ED4F8"/>
                </a:solidFill>
                <a:latin typeface="Calibri"/>
              </a:rPr>
              <a:t>THE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15568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Interactive Dashboard — Four Tabs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53492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. 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142" y="1481328"/>
            <a:ext cx="3526554" cy="19751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3584448"/>
            <a:ext cx="53492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0A2F5C"/>
                </a:solidFill>
                <a:latin typeface="Calibri"/>
              </a:rPr>
              <a:t>Tab 1 · Overview — headcount, hiring, demographics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492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2. Compens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701" y="1481328"/>
            <a:ext cx="3540556" cy="19751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3584448"/>
            <a:ext cx="53492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0A2F5C"/>
                </a:solidFill>
                <a:latin typeface="Calibri"/>
              </a:rPr>
              <a:t>Tab 2 · Compensation — pay across role, education, gender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58768"/>
            <a:ext cx="53492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3. Perform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708" y="3968496"/>
            <a:ext cx="3553423" cy="19751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6071616"/>
            <a:ext cx="53492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0A2F5C"/>
                </a:solidFill>
                <a:latin typeface="Calibri"/>
              </a:rPr>
              <a:t>Tab 3 · Performance — ratings, training, tenure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858768"/>
            <a:ext cx="53492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4. Attrition &amp; Satisfa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4130" y="3968496"/>
            <a:ext cx="3519699" cy="19751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09360" y="6071616"/>
            <a:ext cx="53492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0A2F5C"/>
                </a:solidFill>
                <a:latin typeface="Calibri"/>
              </a:rPr>
              <a:t>Tab 4 · Attrition &amp; Satisfaction — turnover drivers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7285"/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92240"/>
            <a:ext cx="9601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>
                <a:solidFill>
                  <a:srgbClr val="E87B4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A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7899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8ED4F8"/>
                </a:solidFill>
                <a:latin typeface="Calibri"/>
              </a:rPr>
              <a:t>MYTHS VS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15568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What HR Believes vs What 100,000 Records Show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80160"/>
          <a:ext cx="10927079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The belief</a:t>
                      </a:r>
                    </a:p>
                  </a:txBody>
                  <a:tcPr marL="137160" anchor="ctr"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The evidence</a:t>
                      </a:r>
                    </a:p>
                  </a:txBody>
                  <a:tcPr marL="137160" anchor="ctr"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137160" anchor="ctr">
                    <a:solidFill>
                      <a:srgbClr val="0A2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0392B"/>
                          </a:solidFill>
                          <a:latin typeface="Calibri"/>
                        </a:rPr>
                        <a:t>Higher education = higher pay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B39"/>
                          </a:solidFill>
                          <a:latin typeface="Calibri"/>
                        </a:rPr>
                        <a:t>PhD $6,431 vs Bachelor $6,398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BUSTED · 0.52%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0392B"/>
                          </a:solidFill>
                          <a:latin typeface="Calibri"/>
                        </a:rPr>
                        <a:t>More experience = higher pay</a:t>
                      </a:r>
                    </a:p>
                  </a:txBody>
                  <a:tcPr marL="137160"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B39"/>
                          </a:solidFill>
                          <a:latin typeface="Calibri"/>
                        </a:rPr>
                        <a:t>Year 0 $6,402 · Year 10 $6,348</a:t>
                      </a:r>
                    </a:p>
                  </a:txBody>
                  <a:tcPr marL="137160"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BUSTED · flat</a:t>
                      </a:r>
                    </a:p>
                  </a:txBody>
                  <a:tcPr marL="137160" anchor="ctr"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0392B"/>
                          </a:solidFill>
                          <a:latin typeface="Calibri"/>
                        </a:rPr>
                        <a:t>Training boosts performance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B39"/>
                          </a:solidFill>
                          <a:latin typeface="Calibri"/>
                        </a:rPr>
                        <a:t>49.28–49.70 hrs at every rating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BUSTED · 25-min range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0392B"/>
                          </a:solidFill>
                          <a:latin typeface="Calibri"/>
                        </a:rPr>
                        <a:t>Unhappy people quit</a:t>
                      </a:r>
                    </a:p>
                  </a:txBody>
                  <a:tcPr marL="137160"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B39"/>
                          </a:solidFill>
                          <a:latin typeface="Calibri"/>
                        </a:rPr>
                        <a:t>Stayed 3.00 vs Resigned 2.99</a:t>
                      </a:r>
                    </a:p>
                  </a:txBody>
                  <a:tcPr marL="137160"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BUSTED · 0.01</a:t>
                      </a:r>
                    </a:p>
                  </a:txBody>
                  <a:tcPr marL="137160" anchor="ctr"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0392B"/>
                          </a:solidFill>
                          <a:latin typeface="Calibri"/>
                        </a:rPr>
                        <a:t>Remote workers leave more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B39"/>
                          </a:solidFill>
                          <a:latin typeface="Calibri"/>
                        </a:rPr>
                        <a:t>9.48% in-office vs 10.28% at 75%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7B46"/>
                          </a:solidFill>
                          <a:latin typeface="Calibri"/>
                        </a:rPr>
                        <a:t>MOSTLY BUSTED · 0.8 pt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0392B"/>
                          </a:solidFill>
                          <a:latin typeface="Calibri"/>
                        </a:rPr>
                        <a:t>Ratings differentiate people</a:t>
                      </a:r>
                    </a:p>
                  </a:txBody>
                  <a:tcPr marL="137160"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B39"/>
                          </a:solidFill>
                          <a:latin typeface="Calibri"/>
                        </a:rPr>
                        <a:t>~20,000 employees in every score</a:t>
                      </a:r>
                    </a:p>
                  </a:txBody>
                  <a:tcPr marL="137160"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BUSTED · uniform</a:t>
                      </a:r>
                    </a:p>
                  </a:txBody>
                  <a:tcPr marL="137160" anchor="ctr"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9A55"/>
                          </a:solidFill>
                          <a:latin typeface="Calibri"/>
                        </a:rPr>
                        <a:t>Job title drives pay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B39"/>
                          </a:solidFill>
                          <a:latin typeface="Calibri"/>
                        </a:rPr>
                        <a:t>$4,545 Technician → $7,799 Engineer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19A55"/>
                          </a:solidFill>
                          <a:latin typeface="Calibri"/>
                        </a:rPr>
                        <a:t>CONFIRMED · 72%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9A55"/>
                          </a:solidFill>
                          <a:latin typeface="Calibri"/>
                        </a:rPr>
                        <a:t>Pay is gender-equitable</a:t>
                      </a:r>
                    </a:p>
                  </a:txBody>
                  <a:tcPr marL="137160"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B39"/>
                          </a:solidFill>
                          <a:latin typeface="Calibri"/>
                        </a:rPr>
                        <a:t>$6,400–$6,415 across all groups</a:t>
                      </a:r>
                    </a:p>
                  </a:txBody>
                  <a:tcPr marL="137160"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19A55"/>
                          </a:solidFill>
                          <a:latin typeface="Calibri"/>
                        </a:rPr>
                        <a:t>CONFIRMED · 0.2%</a:t>
                      </a:r>
                    </a:p>
                  </a:txBody>
                  <a:tcPr marL="137160" anchor="ctr"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7285"/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92240"/>
            <a:ext cx="9601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>
                <a:solidFill>
                  <a:srgbClr val="E87B4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A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7899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8ED4F8"/>
                </a:solidFill>
                <a:latin typeface="Calibri"/>
              </a:rPr>
              <a:t>FROM INSIGHT TO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15568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Six Recommendations for Leadership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534924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6112" y="1499616"/>
            <a:ext cx="530352" cy="530352"/>
          </a:xfrm>
          <a:prstGeom prst="ellipse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581912"/>
            <a:ext cx="530352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463039"/>
            <a:ext cx="420624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A2F5C"/>
                </a:solidFill>
                <a:latin typeface="Calibri"/>
              </a:rPr>
              <a:t>Rebuild job levelling; publish bands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20239"/>
            <a:ext cx="4206240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0" b="0" i="0">
                <a:solidFill>
                  <a:srgbClr val="5F7285"/>
                </a:solidFill>
                <a:latin typeface="Calibri"/>
              </a:rPr>
              <a:t>The 72% title gap is the whole pay story. Create visible paths for Technicians &amp; Analysts stuck below $5.9K.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80160"/>
            <a:ext cx="534924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19672" y="1499616"/>
            <a:ext cx="530352" cy="530352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9672" y="1581912"/>
            <a:ext cx="530352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463039"/>
            <a:ext cx="420624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A2F5C"/>
                </a:solidFill>
                <a:latin typeface="Calibri"/>
              </a:rPr>
              <a:t>Add tenure-based progression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920239"/>
            <a:ext cx="4206240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0" b="0" i="0">
                <a:solidFill>
                  <a:srgbClr val="5F7285"/>
                </a:solidFill>
                <a:latin typeface="Calibri"/>
              </a:rPr>
              <a:t>Year-10 staff earn the least ($6,348). Time-in-role increments beat replacing institutional knowledge.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07791"/>
            <a:ext cx="534924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6112" y="3127248"/>
            <a:ext cx="530352" cy="530352"/>
          </a:xfrm>
          <a:prstGeom prst="ellipse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3209544"/>
            <a:ext cx="530352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090672"/>
            <a:ext cx="420624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 dirty="0">
                <a:solidFill>
                  <a:srgbClr val="0A2F5C"/>
                </a:solidFill>
                <a:latin typeface="Calibri"/>
              </a:rPr>
              <a:t>Rebuild the churn early-warning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547872"/>
            <a:ext cx="4206240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0" b="0" i="0">
                <a:solidFill>
                  <a:srgbClr val="5F7285"/>
                </a:solidFill>
                <a:latin typeface="Calibri"/>
              </a:rPr>
              <a:t>Satisfaction predicts nothing. Add intent-to-stay pulses, manager NPS, compa-ratio flags + a leavers model.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907791"/>
            <a:ext cx="534924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519672" y="3127248"/>
            <a:ext cx="530352" cy="530352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9672" y="3209544"/>
            <a:ext cx="530352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090672"/>
            <a:ext cx="420624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A2F5C"/>
                </a:solidFill>
                <a:latin typeface="Calibri"/>
              </a:rPr>
              <a:t>Target training; stop rationing it equally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547872"/>
            <a:ext cx="4206240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0" b="0" i="0">
                <a:solidFill>
                  <a:srgbClr val="5F7285"/>
                </a:solidFill>
                <a:latin typeface="Calibri"/>
              </a:rPr>
              <a:t>Aim hours at low performers and measure rating lift vs a control group.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535424"/>
            <a:ext cx="534924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96112" y="4754880"/>
            <a:ext cx="530352" cy="530352"/>
          </a:xfrm>
          <a:prstGeom prst="ellipse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4837176"/>
            <a:ext cx="530352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4718304"/>
            <a:ext cx="420624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A2F5C"/>
                </a:solidFill>
                <a:latin typeface="Calibri"/>
              </a:rPr>
              <a:t>Calibrate performance reviews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5175504"/>
            <a:ext cx="4206240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0" b="0" i="0">
                <a:solidFill>
                  <a:srgbClr val="5F7285"/>
                </a:solidFill>
                <a:latin typeface="Calibri"/>
              </a:rPr>
              <a:t>Uniform ratings drive pay (r = 0.51) yet say nothing. Use evidence anchors + calibration sessions.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535424"/>
            <a:ext cx="534924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</a:ln>
          <a:effectLst>
            <a:outerShdw blurRad="70000" dist="26000" dir="5400000" rotWithShape="0">
              <a:srgbClr val="1A3A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519672" y="4754880"/>
            <a:ext cx="530352" cy="530352"/>
          </a:xfrm>
          <a:prstGeom prst="ellipse">
            <a:avLst/>
          </a:prstGeom>
          <a:solidFill>
            <a:srgbClr val="0F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19672" y="4837176"/>
            <a:ext cx="530352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4718304"/>
            <a:ext cx="420624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A2F5C"/>
                </a:solidFill>
                <a:latin typeface="Calibri"/>
              </a:rPr>
              <a:t>Investigate the 2024 signal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5175504"/>
            <a:ext cx="4206240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0" b="0" i="0">
                <a:solidFill>
                  <a:srgbClr val="5F7285"/>
                </a:solidFill>
                <a:latin typeface="Calibri"/>
              </a:rPr>
              <a:t>31% hiring drop + peak hybrid attrition — run a post-mortem starting with Finance (10.54%).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7285"/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492240"/>
            <a:ext cx="9601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>
                <a:solidFill>
                  <a:srgbClr val="E87B46"/>
                </a:solidFill>
                <a:latin typeface="Calibri"/>
              </a:rPr>
              <a:t>22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28A675BE-E269-C887-FE86-C7CD02531618}"/>
              </a:ext>
            </a:extLst>
          </p:cNvPr>
          <p:cNvSpPr/>
          <p:nvPr/>
        </p:nvSpPr>
        <p:spPr>
          <a:xfrm>
            <a:off x="622626" y="1291699"/>
            <a:ext cx="154174" cy="1444752"/>
          </a:xfrm>
          <a:custGeom>
            <a:avLst/>
            <a:gdLst>
              <a:gd name="csX0" fmla="*/ 95098 w 225726"/>
              <a:gd name="csY0" fmla="*/ 0 h 1444752"/>
              <a:gd name="csX1" fmla="*/ 225726 w 225726"/>
              <a:gd name="csY1" fmla="*/ 0 h 1444752"/>
              <a:gd name="csX2" fmla="*/ 130628 w 225726"/>
              <a:gd name="csY2" fmla="*/ 95098 h 1444752"/>
              <a:gd name="csX3" fmla="*/ 130628 w 225726"/>
              <a:gd name="csY3" fmla="*/ 1349654 h 1444752"/>
              <a:gd name="csX4" fmla="*/ 225726 w 225726"/>
              <a:gd name="csY4" fmla="*/ 1444752 h 1444752"/>
              <a:gd name="csX5" fmla="*/ 95098 w 225726"/>
              <a:gd name="csY5" fmla="*/ 1444752 h 1444752"/>
              <a:gd name="csX6" fmla="*/ 0 w 225726"/>
              <a:gd name="csY6" fmla="*/ 1349654 h 1444752"/>
              <a:gd name="csX7" fmla="*/ 0 w 225726"/>
              <a:gd name="csY7" fmla="*/ 95098 h 1444752"/>
              <a:gd name="csX8" fmla="*/ 95098 w 225726"/>
              <a:gd name="csY8" fmla="*/ 0 h 14447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5726" h="1444752">
                <a:moveTo>
                  <a:pt x="95098" y="0"/>
                </a:moveTo>
                <a:lnTo>
                  <a:pt x="225726" y="0"/>
                </a:lnTo>
                <a:cubicBezTo>
                  <a:pt x="173205" y="0"/>
                  <a:pt x="130628" y="42577"/>
                  <a:pt x="130628" y="95098"/>
                </a:cubicBezTo>
                <a:lnTo>
                  <a:pt x="130628" y="1349654"/>
                </a:lnTo>
                <a:cubicBezTo>
                  <a:pt x="130628" y="1402175"/>
                  <a:pt x="173205" y="1444752"/>
                  <a:pt x="225726" y="1444752"/>
                </a:cubicBezTo>
                <a:lnTo>
                  <a:pt x="95098" y="1444752"/>
                </a:lnTo>
                <a:cubicBezTo>
                  <a:pt x="42577" y="1444752"/>
                  <a:pt x="0" y="1402175"/>
                  <a:pt x="0" y="1349654"/>
                </a:cubicBezTo>
                <a:lnTo>
                  <a:pt x="0" y="95098"/>
                </a:lnTo>
                <a:cubicBezTo>
                  <a:pt x="0" y="42577"/>
                  <a:pt x="42577" y="0"/>
                  <a:pt x="95098" y="0"/>
                </a:cubicBezTo>
                <a:close/>
              </a:path>
            </a:pathLst>
          </a:cu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F579A18-9BF3-7F0B-F6FC-F875D4E80811}"/>
              </a:ext>
            </a:extLst>
          </p:cNvPr>
          <p:cNvSpPr/>
          <p:nvPr/>
        </p:nvSpPr>
        <p:spPr>
          <a:xfrm>
            <a:off x="621741" y="2931479"/>
            <a:ext cx="154174" cy="1444752"/>
          </a:xfrm>
          <a:custGeom>
            <a:avLst/>
            <a:gdLst>
              <a:gd name="csX0" fmla="*/ 95098 w 225726"/>
              <a:gd name="csY0" fmla="*/ 0 h 1444752"/>
              <a:gd name="csX1" fmla="*/ 225726 w 225726"/>
              <a:gd name="csY1" fmla="*/ 0 h 1444752"/>
              <a:gd name="csX2" fmla="*/ 130628 w 225726"/>
              <a:gd name="csY2" fmla="*/ 95098 h 1444752"/>
              <a:gd name="csX3" fmla="*/ 130628 w 225726"/>
              <a:gd name="csY3" fmla="*/ 1349654 h 1444752"/>
              <a:gd name="csX4" fmla="*/ 225726 w 225726"/>
              <a:gd name="csY4" fmla="*/ 1444752 h 1444752"/>
              <a:gd name="csX5" fmla="*/ 95098 w 225726"/>
              <a:gd name="csY5" fmla="*/ 1444752 h 1444752"/>
              <a:gd name="csX6" fmla="*/ 0 w 225726"/>
              <a:gd name="csY6" fmla="*/ 1349654 h 1444752"/>
              <a:gd name="csX7" fmla="*/ 0 w 225726"/>
              <a:gd name="csY7" fmla="*/ 95098 h 1444752"/>
              <a:gd name="csX8" fmla="*/ 95098 w 225726"/>
              <a:gd name="csY8" fmla="*/ 0 h 14447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5726" h="1444752">
                <a:moveTo>
                  <a:pt x="95098" y="0"/>
                </a:moveTo>
                <a:lnTo>
                  <a:pt x="225726" y="0"/>
                </a:lnTo>
                <a:cubicBezTo>
                  <a:pt x="173205" y="0"/>
                  <a:pt x="130628" y="42577"/>
                  <a:pt x="130628" y="95098"/>
                </a:cubicBezTo>
                <a:lnTo>
                  <a:pt x="130628" y="1349654"/>
                </a:lnTo>
                <a:cubicBezTo>
                  <a:pt x="130628" y="1402175"/>
                  <a:pt x="173205" y="1444752"/>
                  <a:pt x="225726" y="1444752"/>
                </a:cubicBezTo>
                <a:lnTo>
                  <a:pt x="95098" y="1444752"/>
                </a:lnTo>
                <a:cubicBezTo>
                  <a:pt x="42577" y="1444752"/>
                  <a:pt x="0" y="1402175"/>
                  <a:pt x="0" y="1349654"/>
                </a:cubicBezTo>
                <a:lnTo>
                  <a:pt x="0" y="95098"/>
                </a:lnTo>
                <a:cubicBezTo>
                  <a:pt x="0" y="42577"/>
                  <a:pt x="42577" y="0"/>
                  <a:pt x="95098" y="0"/>
                </a:cubicBezTo>
                <a:close/>
              </a:path>
            </a:pathLst>
          </a:cu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A6FAEE8-961C-127E-4A38-1BEEBBCFB453}"/>
              </a:ext>
            </a:extLst>
          </p:cNvPr>
          <p:cNvSpPr/>
          <p:nvPr/>
        </p:nvSpPr>
        <p:spPr>
          <a:xfrm>
            <a:off x="609969" y="4549487"/>
            <a:ext cx="154174" cy="1444752"/>
          </a:xfrm>
          <a:custGeom>
            <a:avLst/>
            <a:gdLst>
              <a:gd name="csX0" fmla="*/ 95098 w 225726"/>
              <a:gd name="csY0" fmla="*/ 0 h 1444752"/>
              <a:gd name="csX1" fmla="*/ 225726 w 225726"/>
              <a:gd name="csY1" fmla="*/ 0 h 1444752"/>
              <a:gd name="csX2" fmla="*/ 130628 w 225726"/>
              <a:gd name="csY2" fmla="*/ 95098 h 1444752"/>
              <a:gd name="csX3" fmla="*/ 130628 w 225726"/>
              <a:gd name="csY3" fmla="*/ 1349654 h 1444752"/>
              <a:gd name="csX4" fmla="*/ 225726 w 225726"/>
              <a:gd name="csY4" fmla="*/ 1444752 h 1444752"/>
              <a:gd name="csX5" fmla="*/ 95098 w 225726"/>
              <a:gd name="csY5" fmla="*/ 1444752 h 1444752"/>
              <a:gd name="csX6" fmla="*/ 0 w 225726"/>
              <a:gd name="csY6" fmla="*/ 1349654 h 1444752"/>
              <a:gd name="csX7" fmla="*/ 0 w 225726"/>
              <a:gd name="csY7" fmla="*/ 95098 h 1444752"/>
              <a:gd name="csX8" fmla="*/ 95098 w 225726"/>
              <a:gd name="csY8" fmla="*/ 0 h 14447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5726" h="1444752">
                <a:moveTo>
                  <a:pt x="95098" y="0"/>
                </a:moveTo>
                <a:lnTo>
                  <a:pt x="225726" y="0"/>
                </a:lnTo>
                <a:cubicBezTo>
                  <a:pt x="173205" y="0"/>
                  <a:pt x="130628" y="42577"/>
                  <a:pt x="130628" y="95098"/>
                </a:cubicBezTo>
                <a:lnTo>
                  <a:pt x="130628" y="1349654"/>
                </a:lnTo>
                <a:cubicBezTo>
                  <a:pt x="130628" y="1402175"/>
                  <a:pt x="173205" y="1444752"/>
                  <a:pt x="225726" y="1444752"/>
                </a:cubicBezTo>
                <a:lnTo>
                  <a:pt x="95098" y="1444752"/>
                </a:lnTo>
                <a:cubicBezTo>
                  <a:pt x="42577" y="1444752"/>
                  <a:pt x="0" y="1402175"/>
                  <a:pt x="0" y="1349654"/>
                </a:cubicBezTo>
                <a:lnTo>
                  <a:pt x="0" y="95098"/>
                </a:lnTo>
                <a:cubicBezTo>
                  <a:pt x="0" y="42577"/>
                  <a:pt x="42577" y="0"/>
                  <a:pt x="95098" y="0"/>
                </a:cubicBezTo>
                <a:close/>
              </a:path>
            </a:pathLst>
          </a:cu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7EF93A5E-D014-5C61-6DF3-5A1F2D67059B}"/>
              </a:ext>
            </a:extLst>
          </p:cNvPr>
          <p:cNvSpPr/>
          <p:nvPr/>
        </p:nvSpPr>
        <p:spPr>
          <a:xfrm>
            <a:off x="6213534" y="1293222"/>
            <a:ext cx="154174" cy="1444752"/>
          </a:xfrm>
          <a:custGeom>
            <a:avLst/>
            <a:gdLst>
              <a:gd name="csX0" fmla="*/ 95098 w 225726"/>
              <a:gd name="csY0" fmla="*/ 0 h 1444752"/>
              <a:gd name="csX1" fmla="*/ 225726 w 225726"/>
              <a:gd name="csY1" fmla="*/ 0 h 1444752"/>
              <a:gd name="csX2" fmla="*/ 130628 w 225726"/>
              <a:gd name="csY2" fmla="*/ 95098 h 1444752"/>
              <a:gd name="csX3" fmla="*/ 130628 w 225726"/>
              <a:gd name="csY3" fmla="*/ 1349654 h 1444752"/>
              <a:gd name="csX4" fmla="*/ 225726 w 225726"/>
              <a:gd name="csY4" fmla="*/ 1444752 h 1444752"/>
              <a:gd name="csX5" fmla="*/ 95098 w 225726"/>
              <a:gd name="csY5" fmla="*/ 1444752 h 1444752"/>
              <a:gd name="csX6" fmla="*/ 0 w 225726"/>
              <a:gd name="csY6" fmla="*/ 1349654 h 1444752"/>
              <a:gd name="csX7" fmla="*/ 0 w 225726"/>
              <a:gd name="csY7" fmla="*/ 95098 h 1444752"/>
              <a:gd name="csX8" fmla="*/ 95098 w 225726"/>
              <a:gd name="csY8" fmla="*/ 0 h 14447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5726" h="1444752">
                <a:moveTo>
                  <a:pt x="95098" y="0"/>
                </a:moveTo>
                <a:lnTo>
                  <a:pt x="225726" y="0"/>
                </a:lnTo>
                <a:cubicBezTo>
                  <a:pt x="173205" y="0"/>
                  <a:pt x="130628" y="42577"/>
                  <a:pt x="130628" y="95098"/>
                </a:cubicBezTo>
                <a:lnTo>
                  <a:pt x="130628" y="1349654"/>
                </a:lnTo>
                <a:cubicBezTo>
                  <a:pt x="130628" y="1402175"/>
                  <a:pt x="173205" y="1444752"/>
                  <a:pt x="225726" y="1444752"/>
                </a:cubicBezTo>
                <a:lnTo>
                  <a:pt x="95098" y="1444752"/>
                </a:lnTo>
                <a:cubicBezTo>
                  <a:pt x="42577" y="1444752"/>
                  <a:pt x="0" y="1402175"/>
                  <a:pt x="0" y="1349654"/>
                </a:cubicBezTo>
                <a:lnTo>
                  <a:pt x="0" y="95098"/>
                </a:lnTo>
                <a:cubicBezTo>
                  <a:pt x="0" y="42577"/>
                  <a:pt x="42577" y="0"/>
                  <a:pt x="95098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5696F41D-812C-FC9E-210A-FA6C5C80022A}"/>
              </a:ext>
            </a:extLst>
          </p:cNvPr>
          <p:cNvSpPr/>
          <p:nvPr/>
        </p:nvSpPr>
        <p:spPr>
          <a:xfrm>
            <a:off x="6224871" y="2913562"/>
            <a:ext cx="154174" cy="1444752"/>
          </a:xfrm>
          <a:custGeom>
            <a:avLst/>
            <a:gdLst>
              <a:gd name="csX0" fmla="*/ 95098 w 225726"/>
              <a:gd name="csY0" fmla="*/ 0 h 1444752"/>
              <a:gd name="csX1" fmla="*/ 225726 w 225726"/>
              <a:gd name="csY1" fmla="*/ 0 h 1444752"/>
              <a:gd name="csX2" fmla="*/ 130628 w 225726"/>
              <a:gd name="csY2" fmla="*/ 95098 h 1444752"/>
              <a:gd name="csX3" fmla="*/ 130628 w 225726"/>
              <a:gd name="csY3" fmla="*/ 1349654 h 1444752"/>
              <a:gd name="csX4" fmla="*/ 225726 w 225726"/>
              <a:gd name="csY4" fmla="*/ 1444752 h 1444752"/>
              <a:gd name="csX5" fmla="*/ 95098 w 225726"/>
              <a:gd name="csY5" fmla="*/ 1444752 h 1444752"/>
              <a:gd name="csX6" fmla="*/ 0 w 225726"/>
              <a:gd name="csY6" fmla="*/ 1349654 h 1444752"/>
              <a:gd name="csX7" fmla="*/ 0 w 225726"/>
              <a:gd name="csY7" fmla="*/ 95098 h 1444752"/>
              <a:gd name="csX8" fmla="*/ 95098 w 225726"/>
              <a:gd name="csY8" fmla="*/ 0 h 14447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5726" h="1444752">
                <a:moveTo>
                  <a:pt x="95098" y="0"/>
                </a:moveTo>
                <a:lnTo>
                  <a:pt x="225726" y="0"/>
                </a:lnTo>
                <a:cubicBezTo>
                  <a:pt x="173205" y="0"/>
                  <a:pt x="130628" y="42577"/>
                  <a:pt x="130628" y="95098"/>
                </a:cubicBezTo>
                <a:lnTo>
                  <a:pt x="130628" y="1349654"/>
                </a:lnTo>
                <a:cubicBezTo>
                  <a:pt x="130628" y="1402175"/>
                  <a:pt x="173205" y="1444752"/>
                  <a:pt x="225726" y="1444752"/>
                </a:cubicBezTo>
                <a:lnTo>
                  <a:pt x="95098" y="1444752"/>
                </a:lnTo>
                <a:cubicBezTo>
                  <a:pt x="42577" y="1444752"/>
                  <a:pt x="0" y="1402175"/>
                  <a:pt x="0" y="1349654"/>
                </a:cubicBezTo>
                <a:lnTo>
                  <a:pt x="0" y="95098"/>
                </a:lnTo>
                <a:cubicBezTo>
                  <a:pt x="0" y="42577"/>
                  <a:pt x="42577" y="0"/>
                  <a:pt x="95098" y="0"/>
                </a:cubicBezTo>
                <a:close/>
              </a:path>
            </a:pathLst>
          </a:cu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36725E8-33B3-694D-0861-704AA5C5BD9F}"/>
              </a:ext>
            </a:extLst>
          </p:cNvPr>
          <p:cNvSpPr/>
          <p:nvPr/>
        </p:nvSpPr>
        <p:spPr>
          <a:xfrm>
            <a:off x="6247094" y="4544788"/>
            <a:ext cx="154174" cy="1444752"/>
          </a:xfrm>
          <a:custGeom>
            <a:avLst/>
            <a:gdLst>
              <a:gd name="csX0" fmla="*/ 95098 w 225726"/>
              <a:gd name="csY0" fmla="*/ 0 h 1444752"/>
              <a:gd name="csX1" fmla="*/ 225726 w 225726"/>
              <a:gd name="csY1" fmla="*/ 0 h 1444752"/>
              <a:gd name="csX2" fmla="*/ 130628 w 225726"/>
              <a:gd name="csY2" fmla="*/ 95098 h 1444752"/>
              <a:gd name="csX3" fmla="*/ 130628 w 225726"/>
              <a:gd name="csY3" fmla="*/ 1349654 h 1444752"/>
              <a:gd name="csX4" fmla="*/ 225726 w 225726"/>
              <a:gd name="csY4" fmla="*/ 1444752 h 1444752"/>
              <a:gd name="csX5" fmla="*/ 95098 w 225726"/>
              <a:gd name="csY5" fmla="*/ 1444752 h 1444752"/>
              <a:gd name="csX6" fmla="*/ 0 w 225726"/>
              <a:gd name="csY6" fmla="*/ 1349654 h 1444752"/>
              <a:gd name="csX7" fmla="*/ 0 w 225726"/>
              <a:gd name="csY7" fmla="*/ 95098 h 1444752"/>
              <a:gd name="csX8" fmla="*/ 95098 w 225726"/>
              <a:gd name="csY8" fmla="*/ 0 h 14447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5726" h="1444752">
                <a:moveTo>
                  <a:pt x="95098" y="0"/>
                </a:moveTo>
                <a:lnTo>
                  <a:pt x="225726" y="0"/>
                </a:lnTo>
                <a:cubicBezTo>
                  <a:pt x="173205" y="0"/>
                  <a:pt x="130628" y="42577"/>
                  <a:pt x="130628" y="95098"/>
                </a:cubicBezTo>
                <a:lnTo>
                  <a:pt x="130628" y="1349654"/>
                </a:lnTo>
                <a:cubicBezTo>
                  <a:pt x="130628" y="1402175"/>
                  <a:pt x="173205" y="1444752"/>
                  <a:pt x="225726" y="1444752"/>
                </a:cubicBezTo>
                <a:lnTo>
                  <a:pt x="95098" y="1444752"/>
                </a:lnTo>
                <a:cubicBezTo>
                  <a:pt x="42577" y="1444752"/>
                  <a:pt x="0" y="1402175"/>
                  <a:pt x="0" y="1349654"/>
                </a:cubicBezTo>
                <a:lnTo>
                  <a:pt x="0" y="95098"/>
                </a:lnTo>
                <a:cubicBezTo>
                  <a:pt x="0" y="42577"/>
                  <a:pt x="42577" y="0"/>
                  <a:pt x="95098" y="0"/>
                </a:cubicBezTo>
                <a:close/>
              </a:path>
            </a:pathLst>
          </a:custGeom>
          <a:solidFill>
            <a:srgbClr val="0F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4480560"/>
            <a:ext cx="3291840" cy="329184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74920" y="1417320"/>
            <a:ext cx="2011680" cy="73152"/>
          </a:xfrm>
          <a:prstGeom prst="rect">
            <a:avLst/>
          </a:prstGeom>
          <a:solidFill>
            <a:srgbClr val="E8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058400" cy="76328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6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97480"/>
            <a:ext cx="9326880" cy="33239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429000"/>
            <a:ext cx="8503920" cy="58375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5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The best dashboard doesn't just show data — it challenges beliefs.</a:t>
            </a:r>
          </a:p>
          <a:p>
            <a:pPr algn="ctr">
              <a:spcAft>
                <a:spcPts val="400"/>
              </a:spcAft>
            </a:pPr>
            <a:r>
              <a:rPr sz="155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One real lever (role), one win (pay equity), five metrics to rebuild.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4983480"/>
            <a:ext cx="3246120" cy="548640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5120640"/>
            <a:ext cx="3246120" cy="23237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Mohammad Shadab · Data Analyst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4983480"/>
            <a:ext cx="3246120" cy="548640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120640"/>
            <a:ext cx="3246120" cy="23237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Python · SQL · Power BI · Excel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4983480"/>
            <a:ext cx="3246120" cy="548640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5120640"/>
            <a:ext cx="3246120" cy="23237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100,000 Employees · 9 Departments · 2014–2024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55664"/>
            <a:ext cx="11109960" cy="10972"/>
          </a:xfrm>
          <a:prstGeom prst="rect">
            <a:avLst/>
          </a:prstGeom>
          <a:solidFill>
            <a:srgbClr val="DDE6F0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7315200" cy="19389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Employee Performance &amp; Productivity Analytics   ·   Mohammad Shadab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92240"/>
            <a:ext cx="960120" cy="20159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1776</Words>
  <Application>Microsoft Office PowerPoint</Application>
  <PresentationFormat>Widescreen</PresentationFormat>
  <Paragraphs>228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Mohammad Shadab</cp:lastModifiedBy>
  <cp:revision>2</cp:revision>
  <dcterms:created xsi:type="dcterms:W3CDTF">2013-01-27T09:14:16Z</dcterms:created>
  <dcterms:modified xsi:type="dcterms:W3CDTF">2026-09-03T17:27:53Z</dcterms:modified>
  <cp:category/>
</cp:coreProperties>
</file>