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B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395728"/>
            <a:ext cx="12191695" cy="54864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Employee Performance &amp; Productivity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0604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E9C46A"/>
                </a:solidFill>
              </a:defRPr>
            </a:pPr>
            <a:r>
              <a:t>Full Workforce Analytics — Findings, Models &amp; 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39496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CB3C9"/>
                </a:solidFill>
              </a:defRPr>
            </a:pPr>
            <a:r>
              <a:t>100,000 employees   ·   9 departments   ·   7 job titles   ·   hires 2014 – 2024</a:t>
            </a:r>
          </a:p>
          <a:p>
            <a:pPr>
              <a:defRPr sz="1200">
                <a:solidFill>
                  <a:srgbClr val="7A8FA5"/>
                </a:solidFill>
              </a:defRPr>
            </a:pPr>
            <a:r>
              <a:t>Automated analytics pipeline  · 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6473952"/>
            <a:ext cx="11338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7606A"/>
                </a:solidFill>
              </a:defRPr>
            </a:pPr>
            <a:r>
              <a:t>Employee Performance &amp; Productivity Analytics  ·  100,000 employees  · 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75720" y="6473952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7606A"/>
                </a:solidFill>
              </a:defRPr>
            </a:pPr>
            <a:r>
              <a:t>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74320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F3A5F"/>
                </a:solidFill>
              </a:defRPr>
            </a:pPr>
            <a:r>
              <a:t>Agenda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1371600"/>
            <a:ext cx="502920" cy="502920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417320"/>
            <a:ext cx="4663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D3339"/>
                </a:solidFill>
              </a:defRPr>
            </a:pPr>
            <a:r>
              <a:t>Executive summary &amp; KPIs</a:t>
            </a:r>
          </a:p>
        </p:txBody>
      </p:sp>
      <p:sp>
        <p:nvSpPr>
          <p:cNvPr id="8" name="Oval 7"/>
          <p:cNvSpPr/>
          <p:nvPr/>
        </p:nvSpPr>
        <p:spPr>
          <a:xfrm>
            <a:off x="6309360" y="1371600"/>
            <a:ext cx="502920" cy="502920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0" y="1417320"/>
            <a:ext cx="4663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D3339"/>
                </a:solidFill>
              </a:defRPr>
            </a:pPr>
            <a:r>
              <a:t>Workforce composition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2606040"/>
            <a:ext cx="502920" cy="502920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651760"/>
            <a:ext cx="4663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D3339"/>
                </a:solidFill>
              </a:defRPr>
            </a:pPr>
            <a:r>
              <a:t>Compensation &amp; pay equity</a:t>
            </a:r>
          </a:p>
        </p:txBody>
      </p:sp>
      <p:sp>
        <p:nvSpPr>
          <p:cNvPr id="12" name="Oval 11"/>
          <p:cNvSpPr/>
          <p:nvPr/>
        </p:nvSpPr>
        <p:spPr>
          <a:xfrm>
            <a:off x="6309360" y="2606040"/>
            <a:ext cx="502920" cy="502920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2651760"/>
            <a:ext cx="4663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D3339"/>
                </a:solidFill>
              </a:defRPr>
            </a:pPr>
            <a:r>
              <a:t>Performance analysis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3840480"/>
            <a:ext cx="502920" cy="502920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886200"/>
            <a:ext cx="4663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D3339"/>
                </a:solidFill>
              </a:defRPr>
            </a:pPr>
            <a:r>
              <a:t>Attrition &amp; predictive models</a:t>
            </a:r>
          </a:p>
        </p:txBody>
      </p:sp>
      <p:sp>
        <p:nvSpPr>
          <p:cNvPr id="16" name="Oval 15"/>
          <p:cNvSpPr/>
          <p:nvPr/>
        </p:nvSpPr>
        <p:spPr>
          <a:xfrm>
            <a:off x="6309360" y="3840480"/>
            <a:ext cx="502920" cy="502920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3886200"/>
            <a:ext cx="4663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D3339"/>
                </a:solidFill>
              </a:defRPr>
            </a:pPr>
            <a:r>
              <a:t>Workload, remote work &amp; balance</a:t>
            </a:r>
          </a:p>
        </p:txBody>
      </p:sp>
      <p:sp>
        <p:nvSpPr>
          <p:cNvPr id="18" name="Oval 17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5120640"/>
            <a:ext cx="4663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D3339"/>
                </a:solidFill>
              </a:defRPr>
            </a:pPr>
            <a:r>
              <a:t>Key takeaways &amp; recommendations</a:t>
            </a:r>
          </a:p>
        </p:txBody>
      </p:sp>
      <p:sp>
        <p:nvSpPr>
          <p:cNvPr id="20" name="Oval 19"/>
          <p:cNvSpPr/>
          <p:nvPr/>
        </p:nvSpPr>
        <p:spPr>
          <a:xfrm>
            <a:off x="6309360" y="5074920"/>
            <a:ext cx="502920" cy="502920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0" y="5120640"/>
            <a:ext cx="4663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D3339"/>
                </a:solidFill>
              </a:defRPr>
            </a:pPr>
            <a:r>
              <a:t>Methodology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6473952"/>
            <a:ext cx="11338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7606A"/>
                </a:solidFill>
              </a:defRPr>
            </a:pPr>
            <a:r>
              <a:t>Employee Performance &amp; Productivity Analytics  ·  100,000 employees  · 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75720" y="6473952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7606A"/>
                </a:solidFill>
              </a:defRPr>
            </a:pPr>
            <a:r>
              <a:t>3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74320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F3A5F"/>
                </a:solidFill>
              </a:defRPr>
            </a:pPr>
            <a:r>
              <a:t>Executive Summary</a:t>
            </a:r>
          </a:p>
          <a:p>
            <a:pPr>
              <a:defRPr sz="1250">
                <a:solidFill>
                  <a:srgbClr val="57606A"/>
                </a:solidFill>
              </a:defRPr>
            </a:pPr>
            <a:r>
              <a:t>Six numbers and one surprising negative result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98448"/>
            <a:ext cx="1764792" cy="914400"/>
          </a:xfrm>
          <a:prstGeom prst="roundRect">
            <a:avLst/>
          </a:prstGeom>
          <a:solidFill>
            <a:srgbClr val="EEF2F6"/>
          </a:solidFill>
          <a:ln w="1778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100" b="1">
                <a:solidFill>
                  <a:srgbClr val="2A9D8F"/>
                </a:solidFill>
              </a:defRPr>
            </a:pPr>
            <a:r>
              <a:t>$6,403</a:t>
            </a:r>
          </a:p>
          <a:p>
            <a:pPr algn="ctr">
              <a:defRPr sz="950">
                <a:solidFill>
                  <a:srgbClr val="57606A"/>
                </a:solidFill>
              </a:defRPr>
            </a:pPr>
            <a:r>
              <a:t>avg monthly salary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32304" y="1298448"/>
            <a:ext cx="1764792" cy="914400"/>
          </a:xfrm>
          <a:prstGeom prst="roundRect">
            <a:avLst/>
          </a:prstGeom>
          <a:solidFill>
            <a:srgbClr val="EEF2F6"/>
          </a:solidFill>
          <a:ln w="1778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100" b="1">
                <a:solidFill>
                  <a:srgbClr val="1F3A5F"/>
                </a:solidFill>
              </a:defRPr>
            </a:pPr>
            <a:r>
              <a:t>3.00/5</a:t>
            </a:r>
          </a:p>
          <a:p>
            <a:pPr algn="ctr">
              <a:defRPr sz="950">
                <a:solidFill>
                  <a:srgbClr val="57606A"/>
                </a:solidFill>
              </a:defRPr>
            </a:pPr>
            <a:r>
              <a:t>avg performance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61688" y="1298448"/>
            <a:ext cx="1764792" cy="914400"/>
          </a:xfrm>
          <a:prstGeom prst="roundRect">
            <a:avLst/>
          </a:prstGeom>
          <a:solidFill>
            <a:srgbClr val="EEF2F6"/>
          </a:solidFill>
          <a:ln w="17780">
            <a:solidFill>
              <a:srgbClr val="E76F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100" b="1">
                <a:solidFill>
                  <a:srgbClr val="E76F51"/>
                </a:solidFill>
              </a:defRPr>
            </a:pPr>
            <a:r>
              <a:t>10.0%</a:t>
            </a:r>
          </a:p>
          <a:p>
            <a:pPr algn="ctr">
              <a:defRPr sz="950">
                <a:solidFill>
                  <a:srgbClr val="57606A"/>
                </a:solidFill>
              </a:defRPr>
            </a:pPr>
            <a:r>
              <a:t>attrition rate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91072" y="1298448"/>
            <a:ext cx="1764792" cy="914400"/>
          </a:xfrm>
          <a:prstGeom prst="roundRect">
            <a:avLst/>
          </a:prstGeom>
          <a:solidFill>
            <a:srgbClr val="EEF2F6"/>
          </a:solidFill>
          <a:ln w="17780">
            <a:solidFill>
              <a:srgbClr val="E9C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100" b="1">
                <a:solidFill>
                  <a:srgbClr val="E9C46A"/>
                </a:solidFill>
              </a:defRPr>
            </a:pPr>
            <a:r>
              <a:t>3.00/5</a:t>
            </a:r>
          </a:p>
          <a:p>
            <a:pPr algn="ctr">
              <a:defRPr sz="950">
                <a:solidFill>
                  <a:srgbClr val="57606A"/>
                </a:solidFill>
              </a:defRPr>
            </a:pPr>
            <a:r>
              <a:t>avg satisfaction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0456" y="1298448"/>
            <a:ext cx="1764792" cy="914400"/>
          </a:xfrm>
          <a:prstGeom prst="roundRect">
            <a:avLst/>
          </a:prstGeom>
          <a:solidFill>
            <a:srgbClr val="EEF2F6"/>
          </a:solidFill>
          <a:ln w="1778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100" b="1">
                <a:solidFill>
                  <a:srgbClr val="2A9D8F"/>
                </a:solidFill>
              </a:defRPr>
            </a:pPr>
            <a:r>
              <a:t>4.5 yrs</a:t>
            </a:r>
          </a:p>
          <a:p>
            <a:pPr algn="ctr">
              <a:defRPr sz="950">
                <a:solidFill>
                  <a:srgbClr val="57606A"/>
                </a:solidFill>
              </a:defRPr>
            </a:pPr>
            <a:r>
              <a:t>avg tenure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149840" y="1298448"/>
            <a:ext cx="1764792" cy="914400"/>
          </a:xfrm>
          <a:prstGeom prst="roundRect">
            <a:avLst/>
          </a:prstGeom>
          <a:solidFill>
            <a:srgbClr val="EEF2F6"/>
          </a:solidFill>
          <a:ln w="1778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100" b="1">
                <a:solidFill>
                  <a:srgbClr val="1F3A5F"/>
                </a:solidFill>
              </a:defRPr>
            </a:pPr>
            <a:r>
              <a:t>45 hrs</a:t>
            </a:r>
          </a:p>
          <a:p>
            <a:pPr algn="ctr">
              <a:defRPr sz="950">
                <a:solidFill>
                  <a:srgbClr val="57606A"/>
                </a:solidFill>
              </a:defRPr>
            </a:pPr>
            <a:r>
              <a:t>avg work week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514600"/>
            <a:ext cx="111556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50">
                <a:solidFill>
                  <a:srgbClr val="2D3339"/>
                </a:solidFill>
              </a:defRPr>
            </a:pPr>
            <a:r>
              <a:t>✓  Pay equity is healthy — women earn $4.50/mo more on average; within-title gaps ≤ ±$25 (&lt;0.4%).</a:t>
            </a:r>
          </a:p>
          <a:p>
            <a:pPr>
              <a:spcAft>
                <a:spcPts val="900"/>
              </a:spcAft>
              <a:defRPr sz="1450">
                <a:solidFill>
                  <a:srgbClr val="2D3339"/>
                </a:solidFill>
              </a:defRPr>
            </a:pPr>
            <a:r>
              <a:t>✓  Salary is a formula: job-title premium (±$2,600) + $493 per performance point — model R² = 0.99.</a:t>
            </a:r>
          </a:p>
          <a:p>
            <a:pPr>
              <a:spcAft>
                <a:spcPts val="900"/>
              </a:spcAft>
              <a:defRPr sz="1450">
                <a:solidFill>
                  <a:srgbClr val="2D3339"/>
                </a:solidFill>
              </a:defRPr>
            </a:pPr>
            <a:r>
              <a:t>✗  Attrition (10.0%) is statistically unpredictable — both ML models score AUC ≈ 0.49 (coin flip); every segment sits within 9.5–10.3%.</a:t>
            </a:r>
          </a:p>
          <a:p>
            <a:pPr>
              <a:spcAft>
                <a:spcPts val="900"/>
              </a:spcAft>
              <a:defRPr sz="1450">
                <a:solidFill>
                  <a:srgbClr val="2D3339"/>
                </a:solidFill>
              </a:defRPr>
            </a:pPr>
            <a:r>
              <a:t>✗  Engagement levers (training, overtime, remote work, team size) show zero measured effect: |r| &lt; 0.01 vs performance &amp; satisfaction.</a:t>
            </a:r>
          </a:p>
          <a:p>
            <a:pPr>
              <a:spcAft>
                <a:spcPts val="900"/>
              </a:spcAft>
              <a:defRPr sz="1450">
                <a:solidFill>
                  <a:srgbClr val="2D3339"/>
                </a:solidFill>
              </a:defRPr>
            </a:pPr>
            <a:r>
              <a:t>⚑  Departments are near-identical on every metric (salary spread $39, attrition spread 0.9 pt) — consistent with synthetic data.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6473952"/>
            <a:ext cx="11338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7606A"/>
                </a:solidFill>
              </a:defRPr>
            </a:pPr>
            <a:r>
              <a:t>Employee Performance &amp; Productivity Analytics  ·  100,000 employees  · 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75720" y="6473952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7606A"/>
                </a:solidFill>
              </a:defRPr>
            </a:pPr>
            <a:r>
              <a:t>4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74320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F3A5F"/>
                </a:solidFill>
              </a:defRPr>
            </a:pPr>
            <a:r>
              <a:t>Workforce Composition</a:t>
            </a:r>
          </a:p>
          <a:p>
            <a:pPr>
              <a:defRPr sz="1250">
                <a:solidFill>
                  <a:srgbClr val="57606A"/>
                </a:solidFill>
              </a:defRPr>
            </a:pPr>
            <a:r>
              <a:t>Evenly balanced across departments, gender and education</a:t>
            </a:r>
          </a:p>
        </p:txBody>
      </p:sp>
      <p:pic>
        <p:nvPicPr>
          <p:cNvPr id="6" name="Picture 5" descr="01_department_headcou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17320"/>
            <a:ext cx="5577840" cy="2750524"/>
          </a:xfrm>
          <a:prstGeom prst="rect">
            <a:avLst/>
          </a:prstGeom>
        </p:spPr>
      </p:pic>
      <p:pic>
        <p:nvPicPr>
          <p:cNvPr id="7" name="Picture 6" descr="02_gender_educ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737360"/>
            <a:ext cx="5486400" cy="232988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21208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2D3339"/>
                </a:solidFill>
              </a:defRPr>
            </a:pPr>
            <a:r>
              <a:t>All 9 departments employ 10,956–11,216 staff (11% each).</a:t>
            </a:r>
          </a:p>
          <a:p>
            <a:pPr>
              <a:spcAft>
                <a:spcPts val="900"/>
              </a:spcAft>
              <a:defRPr sz="1300">
                <a:solidFill>
                  <a:srgbClr val="2D3339"/>
                </a:solidFill>
              </a:defRPr>
            </a:pPr>
            <a:r>
              <a:t>Education skews to Bachelor; ~9,300 hires/year over the decade.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6473952"/>
            <a:ext cx="11338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7606A"/>
                </a:solidFill>
              </a:defRPr>
            </a:pPr>
            <a:r>
              <a:t>Employee Performance &amp; Productivity Analytics  ·  100,000 employees  · 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75720" y="6473952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7606A"/>
                </a:solidFill>
              </a:defRPr>
            </a:pPr>
            <a:r>
              <a:t>5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74320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F3A5F"/>
                </a:solidFill>
              </a:defRPr>
            </a:pPr>
            <a:r>
              <a:t>Hiring Trends &amp; Age Profile</a:t>
            </a:r>
          </a:p>
          <a:p>
            <a:pPr>
              <a:defRPr sz="1250">
                <a:solidFill>
                  <a:srgbClr val="57606A"/>
                </a:solidFill>
              </a:defRPr>
            </a:pPr>
            <a:r>
              <a:t>Steady hiring 2014–2024; age peaks in the 40s</a:t>
            </a:r>
          </a:p>
        </p:txBody>
      </p:sp>
      <p:pic>
        <p:nvPicPr>
          <p:cNvPr id="6" name="Picture 5" descr="16_hiring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5532120" cy="2622480"/>
          </a:xfrm>
          <a:prstGeom prst="rect">
            <a:avLst/>
          </a:prstGeom>
        </p:spPr>
      </p:pic>
      <p:pic>
        <p:nvPicPr>
          <p:cNvPr id="7" name="Picture 6" descr="07_age_ten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874519"/>
            <a:ext cx="5486400" cy="202054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39496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2D3339"/>
                </a:solidFill>
              </a:defRPr>
            </a:pPr>
            <a:r>
              <a:t>Average age 41 · average tenure 4.5 years — a mature, stable workforce profile.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6473952"/>
            <a:ext cx="11338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7606A"/>
                </a:solidFill>
              </a:defRPr>
            </a:pPr>
            <a:r>
              <a:t>Employee Performance &amp; Productivity Analytics  ·  100,000 employees  · 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75720" y="6473952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7606A"/>
                </a:solidFill>
              </a:defRPr>
            </a:pPr>
            <a:r>
              <a:t>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74320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F3A5F"/>
                </a:solidFill>
              </a:defRPr>
            </a:pPr>
            <a:r>
              <a:t>Compensation Overview</a:t>
            </a:r>
          </a:p>
          <a:p>
            <a:pPr>
              <a:defRPr sz="1250">
                <a:solidFill>
                  <a:srgbClr val="57606A"/>
                </a:solidFill>
              </a:defRPr>
            </a:pPr>
            <a:r>
              <a:t>Mean $6,403 · median $6,500 · σ $1,373</a:t>
            </a:r>
          </a:p>
        </p:txBody>
      </p:sp>
      <p:pic>
        <p:nvPicPr>
          <p:cNvPr id="6" name="Picture 5" descr="08_salary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17320"/>
            <a:ext cx="5577840" cy="2750524"/>
          </a:xfrm>
          <a:prstGeom prst="rect">
            <a:avLst/>
          </a:prstGeom>
        </p:spPr>
      </p:pic>
      <p:pic>
        <p:nvPicPr>
          <p:cNvPr id="7" name="Picture 6" descr="03_salary_by_depart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463040"/>
            <a:ext cx="5486400" cy="293709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25780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2D3339"/>
                </a:solidFill>
              </a:defRPr>
            </a:pPr>
            <a:r>
              <a:t>Near-normal salary distribution, $3,850–$9,000.</a:t>
            </a:r>
          </a:p>
          <a:p>
            <a:pPr>
              <a:spcAft>
                <a:spcPts val="900"/>
              </a:spcAft>
              <a:defRPr sz="1300">
                <a:solidFill>
                  <a:srgbClr val="2D3339"/>
                </a:solidFill>
              </a:defRPr>
            </a:pPr>
            <a:r>
              <a:t>Departments differ by just $39/month on average — pay is not department-driven.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6473952"/>
            <a:ext cx="11338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7606A"/>
                </a:solidFill>
              </a:defRPr>
            </a:pPr>
            <a:r>
              <a:t>Employee Performance &amp; Productivity Analytics  ·  100,000 employees  · 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75720" y="6473952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7606A"/>
                </a:solidFill>
              </a:defRPr>
            </a:pPr>
            <a:r>
              <a:t>7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74320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F3A5F"/>
                </a:solidFill>
              </a:defRPr>
            </a:pPr>
            <a:r>
              <a:t>Education &amp; Gender Pay Equity</a:t>
            </a:r>
          </a:p>
          <a:p>
            <a:pPr>
              <a:defRPr sz="1250">
                <a:solidFill>
                  <a:srgbClr val="57606A"/>
                </a:solidFill>
              </a:defRPr>
            </a:pPr>
            <a:r>
              <a:t>Small education premiums · no gender gap to remediate</a:t>
            </a:r>
          </a:p>
        </p:txBody>
      </p:sp>
      <p:pic>
        <p:nvPicPr>
          <p:cNvPr id="6" name="Picture 5" descr="09_salary_by_educ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17320"/>
            <a:ext cx="5120640" cy="2890740"/>
          </a:xfrm>
          <a:prstGeom prst="rect">
            <a:avLst/>
          </a:prstGeom>
        </p:spPr>
      </p:pic>
      <p:pic>
        <p:nvPicPr>
          <p:cNvPr id="7" name="Picture 6" descr="10_gender_pay_equ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1417320"/>
            <a:ext cx="5989320" cy="268747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3492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2D3339"/>
                </a:solidFill>
              </a:defRPr>
            </a:pPr>
            <a:r>
              <a:t>Company-wide: women +$4.50/mo vs men. Largest within-title gap: Consultant +$23 (0.3%).</a:t>
            </a:r>
          </a:p>
          <a:p>
            <a:pPr>
              <a:spcAft>
                <a:spcPts val="900"/>
              </a:spcAft>
              <a:defRPr sz="1300">
                <a:solidFill>
                  <a:srgbClr val="2D3339"/>
                </a:solidFill>
              </a:defRPr>
            </a:pPr>
            <a:r>
              <a:t>Verdict: pay equity is healthy — institutionalize quarterly monitoring.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6473952"/>
            <a:ext cx="11338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7606A"/>
                </a:solidFill>
              </a:defRPr>
            </a:pPr>
            <a:r>
              <a:t>Employee Performance &amp; Productivity Analytics  ·  100,000 employees  · 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75720" y="6473952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7606A"/>
                </a:solidFill>
              </a:defRPr>
            </a:pPr>
            <a:r>
              <a:t>8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74320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F3A5F"/>
                </a:solidFill>
              </a:defRPr>
            </a:pPr>
            <a:r>
              <a:t>What Drives Salary — OLS Model</a:t>
            </a:r>
          </a:p>
          <a:p>
            <a:pPr>
              <a:defRPr sz="1250">
                <a:solidFill>
                  <a:srgbClr val="57606A"/>
                </a:solidFill>
              </a:defRPr>
            </a:pPr>
            <a:r>
              <a:t>R² = 0.991 · MAE = $95 on 20% hold-out — pay is essentially a formula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81328"/>
            <a:ext cx="6766560" cy="438912"/>
          </a:xfrm>
          <a:prstGeom prst="round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50">
                <a:solidFill>
                  <a:srgbClr val="2D3339"/>
                </a:solidFill>
              </a:rPr>
              <a:t>Job title: Engineer    </a:t>
            </a:r>
            <a:r>
              <a:rPr sz="1350" b="1">
                <a:solidFill>
                  <a:srgbClr val="2A9D8F"/>
                </a:solidFill>
              </a:rPr>
              <a:t>+$2,600 /mo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93392"/>
            <a:ext cx="6766560" cy="438912"/>
          </a:xfrm>
          <a:prstGeom prst="round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50">
                <a:solidFill>
                  <a:srgbClr val="2D3339"/>
                </a:solidFill>
              </a:rPr>
              <a:t>Job title: Manager    </a:t>
            </a:r>
            <a:r>
              <a:rPr sz="1350" b="1">
                <a:solidFill>
                  <a:srgbClr val="2A9D8F"/>
                </a:solidFill>
              </a:rPr>
              <a:t>+$2,599 /mo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505456"/>
            <a:ext cx="6766560" cy="438912"/>
          </a:xfrm>
          <a:prstGeom prst="round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50">
                <a:solidFill>
                  <a:srgbClr val="2D3339"/>
                </a:solidFill>
              </a:rPr>
              <a:t>Job title: Consultant    </a:t>
            </a:r>
            <a:r>
              <a:rPr sz="1350" b="1">
                <a:solidFill>
                  <a:srgbClr val="2A9D8F"/>
                </a:solidFill>
              </a:rPr>
              <a:t>+$1,951 /mo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766560" cy="438912"/>
          </a:xfrm>
          <a:prstGeom prst="round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50">
                <a:solidFill>
                  <a:srgbClr val="2D3339"/>
                </a:solidFill>
              </a:rPr>
              <a:t>Job title: Developer    </a:t>
            </a:r>
            <a:r>
              <a:rPr sz="1350" b="1">
                <a:solidFill>
                  <a:srgbClr val="2A9D8F"/>
                </a:solidFill>
              </a:rPr>
              <a:t>+$1,300 /mo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529584"/>
            <a:ext cx="6766560" cy="438912"/>
          </a:xfrm>
          <a:prstGeom prst="round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50">
                <a:solidFill>
                  <a:srgbClr val="2D3339"/>
                </a:solidFill>
              </a:rPr>
              <a:t>Job title: Specialist    </a:t>
            </a:r>
            <a:r>
              <a:rPr sz="1350" b="1">
                <a:solidFill>
                  <a:srgbClr val="2A9D8F"/>
                </a:solidFill>
              </a:rPr>
              <a:t>+$650 /mo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041648"/>
            <a:ext cx="6766560" cy="438912"/>
          </a:xfrm>
          <a:prstGeom prst="round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50">
                <a:solidFill>
                  <a:srgbClr val="2D3339"/>
                </a:solidFill>
              </a:rPr>
              <a:t>Job title: Technician    </a:t>
            </a:r>
            <a:r>
              <a:rPr sz="1350" b="1">
                <a:solidFill>
                  <a:srgbClr val="E76F51"/>
                </a:solidFill>
              </a:rPr>
              <a:t>−$648 /mo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553712"/>
            <a:ext cx="6766560" cy="438912"/>
          </a:xfrm>
          <a:prstGeom prst="round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50">
                <a:solidFill>
                  <a:srgbClr val="2D3339"/>
                </a:solidFill>
              </a:rPr>
              <a:t>Performance score, per point    </a:t>
            </a:r>
            <a:r>
              <a:rPr sz="1350" b="1">
                <a:solidFill>
                  <a:srgbClr val="1F3A5F"/>
                </a:solidFill>
              </a:rPr>
              <a:t>+$493 /mo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5065776"/>
            <a:ext cx="6766560" cy="438912"/>
          </a:xfrm>
          <a:prstGeom prst="round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50">
                <a:solidFill>
                  <a:srgbClr val="2D3339"/>
                </a:solidFill>
              </a:rPr>
              <a:t>Dept, gender, education, age, tenure…    </a:t>
            </a:r>
            <a:r>
              <a:rPr sz="1350" b="1">
                <a:solidFill>
                  <a:srgbClr val="57606A"/>
                </a:solidFill>
              </a:rPr>
              <a:t>≈ $0  (|β| &lt; $3)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26679" y="1645920"/>
            <a:ext cx="3977639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50">
                <a:solidFill>
                  <a:srgbClr val="2D3339"/>
                </a:solidFill>
              </a:defRPr>
            </a:pPr>
            <a:r>
              <a:t>Pay governance is transparent and rule-based — good for fairness.</a:t>
            </a:r>
          </a:p>
          <a:p>
            <a:pPr>
              <a:spcAft>
                <a:spcPts val="900"/>
              </a:spcAft>
              <a:defRPr sz="1350">
                <a:solidFill>
                  <a:srgbClr val="2D3339"/>
                </a:solidFill>
              </a:defRPr>
            </a:pPr>
            <a:r>
              <a:t>But performance ratings now directly move pay by up to $1,972/mo (score 1→5) — rating quality is a compensation-control issue.</a:t>
            </a:r>
          </a:p>
          <a:p>
            <a:pPr>
              <a:spcAft>
                <a:spcPts val="900"/>
              </a:spcAft>
              <a:defRPr sz="1350">
                <a:solidFill>
                  <a:srgbClr val="2D3339"/>
                </a:solidFill>
              </a:defRPr>
            </a:pPr>
            <a:r>
              <a:t>Score 1–5 maps to ≈ $4,430–$6,400/mo for a Specialist; titles shift the whole curve.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6473952"/>
            <a:ext cx="11338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7606A"/>
                </a:solidFill>
              </a:defRPr>
            </a:pPr>
            <a:r>
              <a:t>Employee Performance &amp; Productivity Analytics  ·  100,000 employees  · 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75720" y="6473952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7606A"/>
                </a:solidFill>
              </a:defRPr>
            </a:pPr>
            <a:r>
              <a:t>9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74320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F3A5F"/>
                </a:solidFill>
              </a:defRPr>
            </a:pPr>
            <a:r>
              <a:t>Performance Analysis</a:t>
            </a:r>
          </a:p>
          <a:p>
            <a:pPr>
              <a:defRPr sz="1250">
                <a:solidFill>
                  <a:srgbClr val="57606A"/>
                </a:solidFill>
              </a:defRPr>
            </a:pPr>
            <a:r>
              <a:t>Uniform 1–5 distribution · department averages 2.98 – 3.02</a:t>
            </a:r>
          </a:p>
        </p:txBody>
      </p:sp>
      <p:pic>
        <p:nvPicPr>
          <p:cNvPr id="6" name="Picture 5" descr="04_performance_by_depart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17320"/>
            <a:ext cx="5486400" cy="2944800"/>
          </a:xfrm>
          <a:prstGeom prst="rect">
            <a:avLst/>
          </a:prstGeom>
        </p:spPr>
      </p:pic>
      <p:pic>
        <p:nvPicPr>
          <p:cNvPr id="7" name="Picture 6" descr="11_performance_m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463040"/>
            <a:ext cx="5577840" cy="270440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39496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2D3339"/>
                </a:solidFill>
              </a:defRPr>
            </a:pPr>
            <a:r>
              <a:t>39.9% high performers (4–5) vs 40.1% low (1–2) — a perfectly symmetric spread, unusual for real ratings.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6473952"/>
            <a:ext cx="11338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7606A"/>
                </a:solidFill>
              </a:defRPr>
            </a:pPr>
            <a:r>
              <a:t>Employee Performance &amp; Productivity Analytics  ·  100,000 employees  · 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75720" y="6473952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7606A"/>
                </a:solidFill>
              </a:defRPr>
            </a:pPr>
            <a:r>
              <a:t>10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74320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F3A5F"/>
                </a:solidFill>
              </a:defRPr>
            </a:pPr>
            <a:r>
              <a:t>Satisfaction &amp; Training vs Performance</a:t>
            </a:r>
          </a:p>
          <a:p>
            <a:pPr>
              <a:defRPr sz="1250">
                <a:solidFill>
                  <a:srgbClr val="57606A"/>
                </a:solidFill>
              </a:defRPr>
            </a:pPr>
            <a:r>
              <a:t>No gradient anywhere — a red flag about measurement</a:t>
            </a:r>
          </a:p>
        </p:txBody>
      </p:sp>
      <p:pic>
        <p:nvPicPr>
          <p:cNvPr id="6" name="Picture 5" descr="19_satisfa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17320"/>
            <a:ext cx="5669280" cy="2098297"/>
          </a:xfrm>
          <a:prstGeom prst="rect">
            <a:avLst/>
          </a:prstGeom>
        </p:spPr>
      </p:pic>
      <p:pic>
        <p:nvPicPr>
          <p:cNvPr id="7" name="Picture 6" descr="15_tenure_trai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600200"/>
            <a:ext cx="5440680" cy="201270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44068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2D3339"/>
                </a:solidFill>
              </a:defRPr>
            </a:pPr>
            <a:r>
              <a:t>Satisfaction ⊥ performance (r = 0.002) and ⊥ attrition; training hours (0–99) don't move performance at all.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6473952"/>
            <a:ext cx="11338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7606A"/>
                </a:solidFill>
              </a:defRPr>
            </a:pPr>
            <a:r>
              <a:t>Employee Performance &amp; Productivity Analytics  ·  100,000 employees  · 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75720" y="6473952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7606A"/>
                </a:solidFill>
              </a:defRPr>
            </a:pPr>
            <a:r>
              <a:t>11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74320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F3A5F"/>
                </a:solidFill>
              </a:defRPr>
            </a:pPr>
            <a:r>
              <a:t>Attrition Overview</a:t>
            </a:r>
          </a:p>
          <a:p>
            <a:pPr>
              <a:defRPr sz="1250">
                <a:solidFill>
                  <a:srgbClr val="57606A"/>
                </a:solidFill>
              </a:defRPr>
            </a:pPr>
            <a:r>
              <a:t>10.01% resigned (10,010) — remarkably flat across the organization</a:t>
            </a:r>
          </a:p>
        </p:txBody>
      </p:sp>
      <p:pic>
        <p:nvPicPr>
          <p:cNvPr id="6" name="Picture 5" descr="05_attrition_by_depart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17320"/>
            <a:ext cx="5577840" cy="2993879"/>
          </a:xfrm>
          <a:prstGeom prst="rect">
            <a:avLst/>
          </a:prstGeom>
        </p:spPr>
      </p:pic>
      <p:pic>
        <p:nvPicPr>
          <p:cNvPr id="7" name="Picture 6" descr="12_attrition_driv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371600"/>
            <a:ext cx="5532120" cy="313478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48640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2D3339"/>
                </a:solidFill>
              </a:defRPr>
            </a:pPr>
            <a:r>
              <a:t>Widest department spread: Finance 10.5% vs Engineering/IT 9.6% — well within noise.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6473952"/>
            <a:ext cx="11338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7606A"/>
                </a:solidFill>
              </a:defRPr>
            </a:pPr>
            <a:r>
              <a:t>Employee Performance &amp; Productivity Analytics  ·  100,000 employees  · 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75720" y="6473952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7606A"/>
                </a:solidFill>
              </a:defRPr>
            </a:pPr>
            <a:r>
              <a:t>12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74320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F3A5F"/>
                </a:solidFill>
              </a:defRPr>
            </a:pPr>
            <a:r>
              <a:t>Predicting Attrition — An Honest Negative Result</a:t>
            </a:r>
          </a:p>
          <a:p>
            <a:pPr>
              <a:defRPr sz="1250">
                <a:solidFill>
                  <a:srgbClr val="57606A"/>
                </a:solidFill>
              </a:defRPr>
            </a:pPr>
            <a:r>
              <a:t>Both models discriminate no better than a coin flip</a:t>
            </a:r>
          </a:p>
        </p:txBody>
      </p:sp>
      <p:pic>
        <p:nvPicPr>
          <p:cNvPr id="6" name="Picture 5" descr="18_rf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5120640" cy="2622163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943600" y="1600200"/>
            <a:ext cx="2743200" cy="1143000"/>
          </a:xfrm>
          <a:prstGeom prst="roundRect">
            <a:avLst/>
          </a:prstGeom>
          <a:solidFill>
            <a:srgbClr val="EEF2F6"/>
          </a:solidFill>
          <a:ln w="17780">
            <a:solidFill>
              <a:srgbClr val="E76F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100" b="1">
                <a:solidFill>
                  <a:srgbClr val="E76F51"/>
                </a:solidFill>
              </a:defRPr>
            </a:pPr>
            <a:r>
              <a:t>0.49</a:t>
            </a:r>
          </a:p>
          <a:p>
            <a:pPr algn="ctr">
              <a:defRPr sz="950">
                <a:solidFill>
                  <a:srgbClr val="57606A"/>
                </a:solidFill>
              </a:defRPr>
            </a:pPr>
            <a:r>
              <a:t>Logistic AUC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15400" y="1600200"/>
            <a:ext cx="2743200" cy="1143000"/>
          </a:xfrm>
          <a:prstGeom prst="roundRect">
            <a:avLst/>
          </a:prstGeom>
          <a:solidFill>
            <a:srgbClr val="EEF2F6"/>
          </a:solidFill>
          <a:ln w="17780">
            <a:solidFill>
              <a:srgbClr val="E76F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100" b="1">
                <a:solidFill>
                  <a:srgbClr val="E76F51"/>
                </a:solidFill>
              </a:defRPr>
            </a:pPr>
            <a:r>
              <a:t>0.49</a:t>
            </a:r>
          </a:p>
          <a:p>
            <a:pPr algn="ctr">
              <a:defRPr sz="950">
                <a:solidFill>
                  <a:srgbClr val="57606A"/>
                </a:solidFill>
              </a:defRPr>
            </a:pPr>
            <a:r>
              <a:t>Random Forest AUC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2971800"/>
            <a:ext cx="2743200" cy="1143000"/>
          </a:xfrm>
          <a:prstGeom prst="roundRect">
            <a:avLst/>
          </a:prstGeom>
          <a:solidFill>
            <a:srgbClr val="EEF2F6"/>
          </a:solidFill>
          <a:ln w="17780">
            <a:solidFill>
              <a:srgbClr val="5760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100" b="1">
                <a:solidFill>
                  <a:srgbClr val="57606A"/>
                </a:solidFill>
              </a:defRPr>
            </a:pPr>
            <a:r>
              <a:t>0.90</a:t>
            </a:r>
          </a:p>
          <a:p>
            <a:pPr algn="ctr">
              <a:defRPr sz="950">
                <a:solidFill>
                  <a:srgbClr val="57606A"/>
                </a:solidFill>
              </a:defRPr>
            </a:pPr>
            <a:r>
              <a:t>Accuracy = majority-class baseline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3154680"/>
            <a:ext cx="5760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50">
                <a:solidFill>
                  <a:srgbClr val="2D3339"/>
                </a:solidFill>
              </a:defRPr>
            </a:pPr>
            <a:r>
              <a:t>All coefficients within ±0.033; all feature importances &lt; 0.002.</a:t>
            </a:r>
          </a:p>
          <a:p>
            <a:pPr>
              <a:spcAft>
                <a:spcPts val="900"/>
              </a:spcAft>
              <a:defRPr sz="1350">
                <a:solidFill>
                  <a:srgbClr val="2D3339"/>
                </a:solidFill>
              </a:defRPr>
            </a:pPr>
            <a:r>
              <a:t>Every segment (satisfaction, performance, tenure, remote, overtime) sits within 9.5–10.3% of the 10.0% rate.</a:t>
            </a:r>
          </a:p>
          <a:p>
            <a:pPr>
              <a:spcAft>
                <a:spcPts val="900"/>
              </a:spcAft>
              <a:defRPr sz="1350">
                <a:solidFill>
                  <a:srgbClr val="2D3339"/>
                </a:solidFill>
              </a:defRPr>
            </a:pPr>
            <a:r>
              <a:t>⇒ No flight-risk model is buildable from current fields.</a:t>
            </a:r>
          </a:p>
          <a:p>
            <a:pPr>
              <a:spcAft>
                <a:spcPts val="900"/>
              </a:spcAft>
              <a:defRPr sz="1350">
                <a:solidFill>
                  <a:srgbClr val="2D3339"/>
                </a:solidFill>
              </a:defRPr>
            </a:pPr>
            <a:r>
              <a:t>⇒ Action: audit the Resigned flag, capture exit-interview themes &amp; manager ratings, then re-run this pipeline.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6473952"/>
            <a:ext cx="11338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7606A"/>
                </a:solidFill>
              </a:defRPr>
            </a:pPr>
            <a:r>
              <a:t>Employee Performance &amp; Productivity Analytics  ·  100,000 employees  · 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75720" y="6473952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7606A"/>
                </a:solidFill>
              </a:defRPr>
            </a:pPr>
            <a:r>
              <a:t>13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74320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F3A5F"/>
                </a:solidFill>
              </a:defRPr>
            </a:pPr>
            <a:r>
              <a:t>Workload, Remote Work &amp; Balance</a:t>
            </a:r>
          </a:p>
          <a:p>
            <a:pPr>
              <a:defRPr sz="1250">
                <a:solidFill>
                  <a:srgbClr val="57606A"/>
                </a:solidFill>
              </a:defRPr>
            </a:pPr>
            <a:r>
              <a:t>45h weeks · 14.5h overtime — and no measurable cost or benefit</a:t>
            </a:r>
          </a:p>
        </p:txBody>
      </p:sp>
      <p:pic>
        <p:nvPicPr>
          <p:cNvPr id="6" name="Picture 5" descr="13_work_lif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17320"/>
            <a:ext cx="5669280" cy="2215968"/>
          </a:xfrm>
          <a:prstGeom prst="rect">
            <a:avLst/>
          </a:prstGeom>
        </p:spPr>
      </p:pic>
      <p:pic>
        <p:nvPicPr>
          <p:cNvPr id="7" name="Picture 6" descr="14_remote_wo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691640"/>
            <a:ext cx="5440680" cy="190398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48640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2D3339"/>
                </a:solidFill>
              </a:defRPr>
            </a:pPr>
            <a:r>
              <a:t>Attrition is 9.5–10.3% at every remote-work level; overtime and sick days show no burnout signal.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6473952"/>
            <a:ext cx="11338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7606A"/>
                </a:solidFill>
              </a:defRPr>
            </a:pPr>
            <a:r>
              <a:t>Employee Performance &amp; Productivity Analytics  ·  100,000 employees  · 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75720" y="6473952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7606A"/>
                </a:solidFill>
              </a:defRPr>
            </a:pPr>
            <a:r>
              <a:t>14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74320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F3A5F"/>
                </a:solidFill>
              </a:defRPr>
            </a:pPr>
            <a:r>
              <a:t>Key Takeaways &amp; Recommendations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1490472"/>
            <a:ext cx="457200" cy="45720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417320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50" b="1">
                <a:solidFill>
                  <a:srgbClr val="1F3A5F"/>
                </a:solidFill>
              </a:defRPr>
            </a:pPr>
            <a:r>
              <a:t>Protect pay equity</a:t>
            </a:r>
          </a:p>
          <a:p>
            <a:pPr>
              <a:defRPr sz="1150">
                <a:solidFill>
                  <a:srgbClr val="57606A"/>
                </a:solidFill>
              </a:defRPr>
            </a:pPr>
            <a:r>
              <a:t>Gaps &lt; 0.4% everywhere. Automate the quarterly audit (already scripted).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2459736"/>
            <a:ext cx="457200" cy="457200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2386584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50" b="1">
                <a:solidFill>
                  <a:srgbClr val="1F3A5F"/>
                </a:solidFill>
              </a:defRPr>
            </a:pPr>
            <a:r>
              <a:t>Audit performance measurement</a:t>
            </a:r>
          </a:p>
          <a:p>
            <a:pPr>
              <a:defRPr sz="1150">
                <a:solidFill>
                  <a:srgbClr val="57606A"/>
                </a:solidFill>
              </a:defRPr>
            </a:pPr>
            <a:r>
              <a:t>Scores drive $493/mo per point yet correlate with nothing — verify they are evidence-based.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3429000"/>
            <a:ext cx="457200" cy="457200"/>
          </a:xfrm>
          <a:prstGeom prst="ellipse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3355848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50" b="1">
                <a:solidFill>
                  <a:srgbClr val="1F3A5F"/>
                </a:solidFill>
              </a:defRPr>
            </a:pPr>
            <a:r>
              <a:t>Fix attrition data capture</a:t>
            </a:r>
          </a:p>
          <a:p>
            <a:pPr>
              <a:defRPr sz="1150">
                <a:solidFill>
                  <a:srgbClr val="57606A"/>
                </a:solidFill>
              </a:defRPr>
            </a:pPr>
            <a:r>
              <a:t>AUC 0.49 means leavers are invisible. Validate the flag; add exit themes &amp; manager scores.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4398264"/>
            <a:ext cx="457200" cy="457200"/>
          </a:xfrm>
          <a:prstGeom prst="ellipse">
            <a:avLst/>
          </a:pr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4325112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50" b="1">
                <a:solidFill>
                  <a:srgbClr val="1F3A5F"/>
                </a:solidFill>
              </a:defRPr>
            </a:pPr>
            <a:r>
              <a:t>Pilot, don't blanket-invest</a:t>
            </a:r>
          </a:p>
          <a:p>
            <a:pPr>
              <a:defRPr sz="1150">
                <a:solidFill>
                  <a:srgbClr val="57606A"/>
                </a:solidFill>
              </a:defRPr>
            </a:pPr>
            <a:r>
              <a:t>Training/overtime/remote levers show zero effect — test with controlled pilots.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5367528"/>
            <a:ext cx="457200" cy="45720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5294376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50" b="1">
                <a:solidFill>
                  <a:srgbClr val="1F3A5F"/>
                </a:solidFill>
              </a:defRPr>
            </a:pPr>
            <a:r>
              <a:t>Automate the monitor</a:t>
            </a:r>
          </a:p>
          <a:p>
            <a:pPr>
              <a:defRPr sz="1150">
                <a:solidFill>
                  <a:srgbClr val="57606A"/>
                </a:solidFill>
              </a:defRPr>
            </a:pPr>
            <a:r>
              <a:t>The pipeline rebuilds everything (charts → dashboard → report → deck) in &lt; 1 min. Schedule it.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B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Methodology &amp; Reproducibility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50">
                <a:solidFill>
                  <a:srgbClr val="CBD5E1"/>
                </a:solidFill>
              </a:defRPr>
            </a:pPr>
            <a:r>
              <a:t>Data: 100,000 × 20 CSV — zero nulls, zero duplicate IDs, no cleaning required.</a:t>
            </a:r>
          </a:p>
          <a:p>
            <a:pPr>
              <a:spcAft>
                <a:spcPts val="900"/>
              </a:spcAft>
              <a:defRPr sz="1450">
                <a:solidFill>
                  <a:srgbClr val="CBD5E1"/>
                </a:solidFill>
              </a:defRPr>
            </a:pPr>
            <a:r>
              <a:t>EDA: pandas 2.2 · 20 publication charts in matplotlib/seaborn · Pearson correlations.</a:t>
            </a:r>
          </a:p>
          <a:p>
            <a:pPr>
              <a:spcAft>
                <a:spcPts val="900"/>
              </a:spcAft>
              <a:defRPr sz="1450">
                <a:solidFill>
                  <a:srgbClr val="CBD5E1"/>
                </a:solidFill>
              </a:defRPr>
            </a:pPr>
            <a:r>
              <a:t>Models: scikit-learn 1.6 — LogisticRegression (C=0.5, scaled) &amp; RandomForest (250 trees, depth 8) for attrition; OLS for salary. 80/20 stratified split, seed 42.</a:t>
            </a:r>
          </a:p>
          <a:p>
            <a:pPr>
              <a:spcAft>
                <a:spcPts val="900"/>
              </a:spcAft>
              <a:defRPr sz="1450">
                <a:solidFill>
                  <a:srgbClr val="CBD5E1"/>
                </a:solidFill>
              </a:defRPr>
            </a:pPr>
            <a:r>
              <a:t>Deliverables generated by one pipeline: charts/, dashboard.html (offline, Chart.js inlined), report.pdf (16 pp), presentation.pptx, insights workbook (xlsx), README for GitHub.</a:t>
            </a:r>
          </a:p>
          <a:p>
            <a:pPr>
              <a:spcAft>
                <a:spcPts val="900"/>
              </a:spcAft>
              <a:defRPr sz="1450">
                <a:solidFill>
                  <a:srgbClr val="CBD5E1"/>
                </a:solidFill>
              </a:defRPr>
            </a:pPr>
            <a:r>
              <a:t>Rebuild: python3 src/analysis.py → build_dashboard.py → build_report.py → build_pptx.py → build_workbook.py</a:t>
            </a:r>
          </a:p>
          <a:p>
            <a:pPr>
              <a:spcAft>
                <a:spcPts val="900"/>
              </a:spcAft>
              <a:defRPr sz="1450">
                <a:solidFill>
                  <a:srgbClr val="CBD5E1"/>
                </a:solidFill>
              </a:defRPr>
            </a:pPr>
            <a:r>
              <a:t>Caveat: feature independence + near-perfect salary formula indicate synthetic data — treat results as a validated methodology demo.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